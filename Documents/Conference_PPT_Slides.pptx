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5753100" cy="3238500"/>
  <p:notesSz cx="6858000" cy="9144000"/>
  <p:embeddedFontLst>
    <p:embeddedFont>
      <p:font typeface="Calibri" panose="020F0502020204030204"/>
      <p:regular r:id="rId15"/>
      <p:bold r:id="rId16"/>
      <p:italic r:id="rId17"/>
      <p:boldItalic r:id="rId18"/>
    </p:embeddedFont>
    <p:embeddedFont>
      <p:font typeface="IBM Plex Sans Condensed" panose="020B0806050203000203"/>
      <p:bold r:id="rId19"/>
      <p:boldItalic r:id="rId20"/>
    </p:embeddedFont>
    <p:embeddedFont>
      <p:font typeface="Poppins" panose="00000500000000000000"/>
      <p:regular r:id="rId21"/>
      <p:italic r:id="rId22"/>
      <p:boldItalic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917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13.fntdata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16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16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57531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782320" y="1543050"/>
            <a:ext cx="4483100" cy="63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 panose="020F0502020204030204"/>
              <a:buNone/>
            </a:pPr>
            <a:r>
              <a:rPr lang="en-US" altLang="en-US" sz="12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XSFN-Net: A Hybrid Deep Spiking</a:t>
            </a:r>
            <a:r>
              <a:rPr lang="en-IN" altLang="en-US" sz="12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Fractional</a:t>
            </a:r>
            <a:r>
              <a:rPr lang="en-IN" altLang="en-US" sz="12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Neural Network for OSCC</a:t>
            </a:r>
            <a:r>
              <a:rPr lang="en-IN" altLang="en-US" sz="12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Classification in</a:t>
            </a:r>
            <a:r>
              <a:rPr lang="en-IN" altLang="en-US" sz="12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2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Histopathological Image</a:t>
            </a:r>
            <a:r>
              <a:rPr lang="en-IN" altLang="en-US" sz="12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</a:t>
            </a:r>
            <a:endParaRPr lang="en-IN" altLang="en-US" sz="1200" b="1" i="0" u="none" strike="noStrike" cap="none">
              <a:solidFill>
                <a:srgbClr val="0070C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 panose="020F0502020204030204"/>
              <a:buNone/>
            </a:pPr>
            <a:r>
              <a:rPr lang="en-IN" sz="11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Paper ID : 173</a:t>
            </a:r>
            <a:endParaRPr lang="en-IN" sz="1100" b="1" i="0" u="none" strike="noStrike" cap="none">
              <a:solidFill>
                <a:srgbClr val="0070C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43280" y="2181225"/>
            <a:ext cx="4332605" cy="82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 panose="020F0502020204030204"/>
              <a:buNone/>
            </a:pPr>
            <a:r>
              <a:rPr lang="en-IN" altLang="en-US" sz="1100" b="1">
                <a:solidFill>
                  <a:srgbClr val="1668A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100" b="1">
                <a:solidFill>
                  <a:srgbClr val="1668A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Authors :</a:t>
            </a:r>
            <a:r>
              <a:rPr lang="en-IN" altLang="en-US" sz="1100" b="1">
                <a:solidFill>
                  <a:srgbClr val="1668A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100" b="1">
                <a:solidFill>
                  <a:srgbClr val="1668A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Dr. S. N. Tirumala Rao, Pavitra Utalapalli, Vijaya Chilamkuri, Mounika Chevula, Arthi Achaibhar, S. Govinda Rao, Dr. Sireesha Moturi.</a:t>
            </a:r>
            <a:endParaRPr lang="en-US" altLang="en-US" sz="1100" b="1">
              <a:solidFill>
                <a:srgbClr val="1668A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 panose="020F0502020204030204"/>
              <a:buNone/>
            </a:pPr>
            <a:endParaRPr lang="en-US" altLang="en-US" sz="1100" b="1">
              <a:solidFill>
                <a:srgbClr val="1668A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1668A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IN" altLang="en-US" sz="1100" b="1">
                <a:solidFill>
                  <a:srgbClr val="1668A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       </a:t>
            </a:r>
            <a:endParaRPr lang="en-IN" altLang="en-US"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2323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-1090295" y="111760"/>
            <a:ext cx="3027680" cy="27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     </a:t>
            </a:r>
            <a:r>
              <a:rPr 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Paper_id :</a:t>
            </a: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173</a:t>
            </a:r>
            <a:endParaRPr lang="en-IN" altLang="en-US" sz="1100" b="1" i="0" u="none" strike="noStrike" cap="none">
              <a:solidFill>
                <a:srgbClr val="1668AB"/>
              </a:solidFill>
              <a:latin typeface="IBM Plex Sans Condensed" panose="020B0806050203000203"/>
              <a:ea typeface="IBM Plex Sans Condensed" panose="020B0806050203000203"/>
              <a:cs typeface="IBM Plex Sans Condensed" panose="020B0806050203000203"/>
              <a:sym typeface="IBM Plex Sans Condensed" panose="020B0806050203000203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285750" y="457835"/>
            <a:ext cx="4648200" cy="233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 to solve / motivation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Oral Squamous Cell Carcinoma (OSCC) accounts for nearly 90% of oralmalignancies and remains difficult to diagnose early due to subtle histopathological differences.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Manual diagnosis through microscopy is subjective, time-consuming, and highly dependent on pathologist expertise.</a:t>
            </a:r>
            <a:endParaRPr lang="en-US" sz="10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Research scope/goal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design a hybrid deep learning model (XSFN-Net) integrating Xception, Fractional Calculus Fusion, and Deep Spiking Neural Network (DSNN) for accurate OSCC classification from histopathological images.</a:t>
            </a:r>
            <a:endParaRPr lang="en-US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Expected outcomes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Achieve improved accuracy (&gt;90%), precision, and recall compared to existing</a:t>
            </a:r>
            <a:r>
              <a:rPr lang="en-IN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CNN-based models.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Provide a reliable, biologically inspired, and computationally efficient diagnostic tool for early oral cancer detection.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endParaRPr lang="en-IN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2429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-114935" y="111760"/>
            <a:ext cx="1233170" cy="27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Paper_id :</a:t>
            </a: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173</a:t>
            </a:r>
            <a:endParaRPr lang="en-IN" altLang="en-US" sz="1100" b="1" i="0" u="none" strike="noStrike" cap="none">
              <a:solidFill>
                <a:srgbClr val="1668AB"/>
              </a:solidFill>
              <a:latin typeface="IBM Plex Sans Condensed" panose="020B0806050203000203"/>
              <a:ea typeface="IBM Plex Sans Condensed" panose="020B0806050203000203"/>
              <a:cs typeface="IBM Plex Sans Condensed" panose="020B0806050203000203"/>
              <a:sym typeface="IBM Plex Sans Condensed" panose="020B0806050203000203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209550" y="469900"/>
            <a:ext cx="5038725" cy="248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Background context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Oral Squamous Cell Carcinoma (OSCC) is the most common oral malignancy,</a:t>
            </a:r>
            <a:r>
              <a:rPr lang="en-IN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responsible for 84–97% of oral cancers.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Early detection is critical — 5-year survival rate drops from 85% to below 40% 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Importance of the problem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Manual histopathological analysis is subjective and prone to human error.</a:t>
            </a:r>
            <a:endParaRPr lang="en-US" altLang="en-US"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Requires an automated, objective, and high-accuracy AI system for reliable OSCC diagnosis.</a:t>
            </a:r>
            <a:endParaRPr lang="en-US" altLang="en-US"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Basic overview of technology involved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Xception model for deep spatial feature extraction.</a:t>
            </a:r>
            <a:endParaRPr lang="en-US" altLang="en-US"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Fractional Calculus for flexible feature fusion.</a:t>
            </a:r>
            <a:endParaRPr lang="en-US" altLang="en-US"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Deep Spiking Neural Network (DSNN) for biologically inspired classification.</a:t>
            </a:r>
            <a:endParaRPr lang="en-US" altLang="en-US"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challenges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Variations in staining, magnification, and tissue morphology.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Limited annotated datasets for OSCC.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Balancing handcrafted and deep features for robust classification.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endParaRPr lang="en-IN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5434" y="0"/>
            <a:ext cx="5769532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-1085850" y="95250"/>
            <a:ext cx="2874872" cy="27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         </a:t>
            </a:r>
            <a:r>
              <a:rPr 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Paper_id :</a:t>
            </a: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173</a:t>
            </a:r>
            <a:endParaRPr lang="en-IN" altLang="en-US" sz="1100" b="1" i="0" u="none" strike="noStrike" cap="none">
              <a:solidFill>
                <a:srgbClr val="1668AB"/>
              </a:solidFill>
              <a:latin typeface="IBM Plex Sans Condensed" panose="020B0806050203000203"/>
              <a:ea typeface="IBM Plex Sans Condensed" panose="020B0806050203000203"/>
              <a:cs typeface="IBM Plex Sans Condensed" panose="020B0806050203000203"/>
              <a:sym typeface="IBM Plex Sans Condensed" panose="020B0806050203000203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79070" y="411480"/>
            <a:ext cx="4752340" cy="2590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Short review of similar technologies/research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Ramya et al. – Combined handcrafted and deep features for OSCC classification.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Devindi et al. – Multimodal CNN using clinical and image data.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Madhusmita Das et al. – Ensemble model (InceptionResNetV2 + Xception).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Vasuki et al. – Modified VGG with XGBoost for improved OSCC detection.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Existing solutions &amp; approaches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Pure CNN or ensemble models relying on deep features.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Some models incorporate handcrafted features or simple preprocessing.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Limitations of current works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Lack of integration between handcrafted and deep features.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Limited interpretability and biological plausibility.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Insufficient noise handling and segmentation accuracy.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Novelty of our approach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Hybrid model combining Xception + Fractional Calculus Fusion + DSNN.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Integrates handcrafted (LVP, DWT, GLRM) and deep spatial features.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Achieves 91% accuracy with biologically inspired, energy-efficient computation.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0"/>
            <a:ext cx="5761316" cy="3233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68503" y="688303"/>
            <a:ext cx="3392448" cy="20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8745" marR="0" lvl="1" indent="0" algn="l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268605" y="390525"/>
            <a:ext cx="5001260" cy="2614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diagram</a:t>
            </a:r>
            <a:r>
              <a:rPr lang="en-IN" altLang="en-US" sz="11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endParaRPr lang="en-IN" altLang="en-US" sz="11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endParaRPr lang="en-US"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endParaRPr lang="en-US"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endParaRPr lang="en-US"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endParaRPr lang="en-US"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endParaRPr lang="en-US"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endParaRPr lang="en-US"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endParaRPr lang="en-US"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endParaRPr lang="en-US"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   </a:t>
            </a:r>
            <a:r>
              <a:rPr lang="en-IN" altLang="en-US" sz="11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</a:t>
            </a:r>
            <a:r>
              <a:rPr lang="en-IN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Figure :</a:t>
            </a:r>
            <a:r>
              <a:rPr lang="en-IN" altLang="en-US" sz="1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of the OSCC with Fractional Calculus</a:t>
            </a:r>
            <a:r>
              <a:rPr lang="en-IN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Feature Fusion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Brief bullet captions describing each element</a:t>
            </a:r>
            <a:r>
              <a:rPr lang="en-IN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Xception:</a:t>
            </a: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Extracts high-level semantic features.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Fractional </a:t>
            </a:r>
            <a:r>
              <a:rPr lang="en-IN" altLang="en-US" sz="1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Calculus</a:t>
            </a:r>
            <a:r>
              <a:rPr lang="en-US" altLang="en-US" sz="1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r>
              <a:rPr lang="en-US" altLang="en-US" sz="11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Enables adaptive integration of multi-domain features.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DSNN Layer:</a:t>
            </a: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Simulates biological neuron firing for efficient, interpretable</a:t>
            </a:r>
            <a:r>
              <a:rPr lang="en-IN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00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classification.</a:t>
            </a:r>
            <a:endParaRPr lang="en-US" altLang="en-US" sz="100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37490" marR="0" lvl="1" indent="-4889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100" b="1" i="0" u="none" strike="noStrike" cap="none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  </a:t>
            </a:r>
            <a:endParaRPr lang="en-IN" sz="1100" b="1" i="0" u="none" strike="noStrike" cap="non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-881380" y="111760"/>
            <a:ext cx="2670175" cy="27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   </a:t>
            </a:r>
            <a:r>
              <a:rPr 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Paper_id :</a:t>
            </a: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173</a:t>
            </a:r>
            <a:endParaRPr lang="en-IN" altLang="en-US" sz="1100" b="1" i="0" u="none" strike="noStrike" cap="none">
              <a:solidFill>
                <a:srgbClr val="1668AB"/>
              </a:solidFill>
              <a:latin typeface="IBM Plex Sans Condensed" panose="020B0806050203000203"/>
              <a:ea typeface="IBM Plex Sans Condensed" panose="020B0806050203000203"/>
              <a:cs typeface="IBM Plex Sans Condensed" panose="020B0806050203000203"/>
              <a:sym typeface="IBM Plex Sans Condensed" panose="020B0806050203000203"/>
            </a:endParaRPr>
          </a:p>
        </p:txBody>
      </p:sp>
      <p:pic>
        <p:nvPicPr>
          <p:cNvPr id="4" name="Picture 3" descr="model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10" y="628015"/>
            <a:ext cx="4117340" cy="1421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5434" y="-9017"/>
            <a:ext cx="5785594" cy="3247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6"/>
          <p:cNvGrpSpPr/>
          <p:nvPr/>
        </p:nvGrpSpPr>
        <p:grpSpPr>
          <a:xfrm>
            <a:off x="1894836" y="49385"/>
            <a:ext cx="1989385" cy="274495"/>
            <a:chOff x="0" y="-18316"/>
            <a:chExt cx="2652513" cy="365994"/>
          </a:xfrm>
        </p:grpSpPr>
        <p:sp>
          <p:nvSpPr>
            <p:cNvPr id="122" name="Google Shape;122;p6"/>
            <p:cNvSpPr txBox="1"/>
            <p:nvPr/>
          </p:nvSpPr>
          <p:spPr>
            <a:xfrm>
              <a:off x="175023" y="-18316"/>
              <a:ext cx="2335620" cy="365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" name="Google Shape;123;p6"/>
            <p:cNvSpPr txBox="1"/>
            <p:nvPr/>
          </p:nvSpPr>
          <p:spPr>
            <a:xfrm>
              <a:off x="0" y="-6661"/>
              <a:ext cx="2652513" cy="344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30" b="1" i="0" u="none" strike="noStrike" cap="none">
                <a:solidFill>
                  <a:srgbClr val="65A43D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4" name="Google Shape;124;p6"/>
          <p:cNvSpPr txBox="1"/>
          <p:nvPr/>
        </p:nvSpPr>
        <p:spPr>
          <a:xfrm>
            <a:off x="32385" y="469900"/>
            <a:ext cx="5675630" cy="258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IN" alt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</a:t>
            </a:r>
            <a:r>
              <a:rPr 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able</a:t>
            </a:r>
            <a:r>
              <a:rPr lang="en-IN" alt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•"/>
            </a:pPr>
            <a:endParaRPr lang="en-US" sz="1100" b="1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•"/>
            </a:pPr>
            <a:endParaRPr lang="en-US" sz="11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8745" marR="0" lvl="1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lang="en-US" sz="11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•"/>
            </a:pPr>
            <a:endParaRPr lang="en-US" sz="11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comparisons</a:t>
            </a:r>
            <a:r>
              <a:rPr lang="en-IN" alt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XSFN-Net consistently outperformed CNN and OralNet across all five folds.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Accuracy improved from ~76% (traditional CNN) to 91% (proposed XSFN-Net).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Brief observations &amp; insights</a:t>
            </a:r>
            <a:r>
              <a:rPr lang="en-IN" alt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Fractional Calculus fusion increased discriminative power and reduced feature redundancy.</a:t>
            </a:r>
            <a:endParaRPr lang="en-US" altLang="en-US" sz="1100" b="1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DSNN enhanced interpretability and computational efficiency, showing potential for clinical</a:t>
            </a:r>
            <a:r>
              <a:rPr lang="en-IN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deployment.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-1085850" y="111832"/>
            <a:ext cx="2874872" cy="27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         </a:t>
            </a:r>
            <a:r>
              <a:rPr 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Paper_id :</a:t>
            </a: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173</a:t>
            </a:r>
            <a:endParaRPr lang="en-IN" altLang="en-US" sz="1100" b="1" i="0" u="none" strike="noStrike" cap="none">
              <a:solidFill>
                <a:srgbClr val="1668AB"/>
              </a:solidFill>
              <a:latin typeface="IBM Plex Sans Condensed" panose="020B0806050203000203"/>
              <a:ea typeface="IBM Plex Sans Condensed" panose="020B0806050203000203"/>
              <a:cs typeface="IBM Plex Sans Condensed" panose="020B0806050203000203"/>
              <a:sym typeface="IBM Plex Sans Condensed" panose="020B0806050203000203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2"/>
            </p:custDataLst>
          </p:nvPr>
        </p:nvGraphicFramePr>
        <p:xfrm>
          <a:off x="477520" y="700405"/>
          <a:ext cx="4452620" cy="1003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1235"/>
                <a:gridCol w="774065"/>
                <a:gridCol w="848360"/>
                <a:gridCol w="927735"/>
                <a:gridCol w="911225"/>
              </a:tblGrid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000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  Model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000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Accuracy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000">
                          <a:latin typeface="Calibri" panose="020F0502020204030204" charset="0"/>
                          <a:cs typeface="Calibri" panose="020F0502020204030204" charset="0"/>
                        </a:rPr>
                        <a:t>  </a:t>
                      </a: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Precision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000" b="1">
                          <a:latin typeface="Calibri" panose="020F0502020204030204" charset="0"/>
                          <a:cs typeface="Calibri" panose="020F0502020204030204" charset="0"/>
                        </a:rPr>
                        <a:t>    </a:t>
                      </a:r>
                      <a:r>
                        <a:rPr lang="en-IN" altLang="en-US" sz="800" b="1">
                          <a:latin typeface="Calibri" panose="020F0502020204030204" charset="0"/>
                          <a:cs typeface="Calibri" panose="020F0502020204030204" charset="0"/>
                        </a:rPr>
                        <a:t>Recall</a:t>
                      </a:r>
                      <a:endParaRPr lang="en-IN" altLang="en-US" sz="8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F1-Score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CNN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      76%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      74.5%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      75.2%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0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74.8%</a:t>
                      </a:r>
                      <a:endParaRPr lang="en-US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OralNet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76.31%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      75.1%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      </a:t>
                      </a:r>
                      <a:r>
                        <a:rPr lang="en-US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76.0%</a:t>
                      </a:r>
                      <a:endParaRPr lang="en-US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0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75.5%</a:t>
                      </a:r>
                      <a:endParaRPr lang="en-US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2724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XSFN-NET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        91%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      93.51%</a:t>
                      </a:r>
                      <a:endParaRPr lang="en-IN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      </a:t>
                      </a:r>
                      <a:r>
                        <a:rPr lang="en-US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93.01%</a:t>
                      </a:r>
                      <a:endParaRPr lang="en-US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 sz="1000">
                          <a:latin typeface="Calibri" panose="020F0502020204030204" charset="0"/>
                          <a:cs typeface="Calibri" panose="020F0502020204030204" charset="0"/>
                        </a:rPr>
                        <a:t>     </a:t>
                      </a:r>
                      <a:r>
                        <a:rPr lang="en-US" altLang="en-US" sz="800">
                          <a:latin typeface="Calibri" panose="020F0502020204030204" charset="0"/>
                          <a:cs typeface="Calibri" panose="020F0502020204030204" charset="0"/>
                        </a:rPr>
                        <a:t>93.64%</a:t>
                      </a:r>
                      <a:endParaRPr lang="en-US" altLang="en-US" sz="8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-14817"/>
            <a:ext cx="5795928" cy="3253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239395" y="340995"/>
            <a:ext cx="4700905" cy="2668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37490" marR="0" lvl="1" indent="-11874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Main findings</a:t>
            </a:r>
            <a:r>
              <a:rPr lang="en-IN" alt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proposed XSFN-Net achieved 91% accuracy, 93.51% precision, 93.01% recall</a:t>
            </a:r>
            <a:r>
              <a:rPr lang="en-IN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Effectively classified OSCC and normal tissues from histopathological images.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37490" marR="0" lvl="1" indent="-11874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Advantages of our solution</a:t>
            </a:r>
            <a:r>
              <a:rPr lang="en-IN" alt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Combines handcrafted + deep features for robust representation.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Fractional Calculus Fusion enhances adaptability and feature balance.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37490" marR="0" lvl="1" indent="-11874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contributions</a:t>
            </a:r>
            <a:r>
              <a:rPr lang="en-IN" alt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lang="en-IN" altLang="en-US" sz="1100" b="1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Introduced a hybrid deep spiking fractional neural network for OSCC classification.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Integrated novel Medav filtering and PraNet segmentation for precise preprocessing.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37490" marR="0" lvl="1" indent="-11874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•"/>
            </a:pPr>
            <a:r>
              <a:rPr 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Limitations</a:t>
            </a:r>
            <a:r>
              <a:rPr lang="en-IN" altLang="en-US" sz="1100" b="1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future scope:</a:t>
            </a:r>
            <a:endParaRPr lang="en-IN" altLang="en-US" sz="1100" b="1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Dataset size (1,224 images) limits large-scale generalization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ingdings" panose="05000000000000000000" charset="0"/>
              <a:buChar char="Ø"/>
            </a:pP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Incorporate Explainable AI (XAI) for clinical trust.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18745" marR="0" lvl="1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-1085850" y="111832"/>
            <a:ext cx="2874872" cy="27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       </a:t>
            </a:r>
            <a:r>
              <a:rPr 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Paper_id :</a:t>
            </a: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173</a:t>
            </a:r>
            <a:endParaRPr lang="en-IN" altLang="en-US" sz="1100" b="1" i="0" u="none" strike="noStrike" cap="none">
              <a:solidFill>
                <a:srgbClr val="1668AB"/>
              </a:solidFill>
              <a:latin typeface="IBM Plex Sans Condensed" panose="020B0806050203000203"/>
              <a:ea typeface="IBM Plex Sans Condensed" panose="020B0806050203000203"/>
              <a:cs typeface="IBM Plex Sans Condensed" panose="020B0806050203000203"/>
              <a:sym typeface="IBM Plex Sans Condensed" panose="020B080605020300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-9827"/>
            <a:ext cx="5791200" cy="3250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268605" y="474980"/>
            <a:ext cx="4868545" cy="257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0195" marR="0" lvl="1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US" altLang="en-IN" sz="1100" b="1" i="0" u="none" strike="noStrike" cap="none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Reference</a:t>
            </a:r>
            <a:endParaRPr lang="en-IN" altLang="en-US" sz="1100" b="1" i="0" u="none" strike="noStrike" cap="non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347345" marR="0" lvl="1" indent="-2286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altLang="en-US" sz="1000" b="1" i="0" u="none" strike="noStrike" cap="none">
                <a:solidFill>
                  <a:srgbClr val="000000"/>
                </a:solidFill>
                <a:latin typeface="Calibri" panose="020F0502020204030204" charset="0"/>
                <a:ea typeface="Poppins" panose="00000500000000000000"/>
                <a:cs typeface="Calibri" panose="020F0502020204030204" charset="0"/>
                <a:sym typeface="Poppins" panose="00000500000000000000"/>
              </a:rPr>
              <a:t>S. Ramya et al.,</a:t>
            </a: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 charset="0"/>
                <a:ea typeface="Poppins" panose="00000500000000000000"/>
                <a:cs typeface="Calibri" panose="020F0502020204030204" charset="0"/>
                <a:sym typeface="Poppins" panose="00000500000000000000"/>
              </a:rPr>
              <a:t> “Xception Spiking Fractional Neural Network for OSCC Classification Based on Histopathological Images,” IEEE Access, 2025.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 charset="0"/>
              <a:ea typeface="Poppins" panose="00000500000000000000"/>
              <a:cs typeface="Calibri" panose="020F0502020204030204" charset="0"/>
              <a:sym typeface="Poppins" panose="00000500000000000000"/>
            </a:endParaRPr>
          </a:p>
          <a:p>
            <a:pPr marL="347345" marR="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altLang="en-US" sz="1000" b="1" i="0" u="none" strike="noStrike" cap="none">
                <a:solidFill>
                  <a:srgbClr val="000000"/>
                </a:solidFill>
                <a:latin typeface="Calibri" panose="020F0502020204030204" charset="0"/>
                <a:ea typeface="Poppins" panose="00000500000000000000"/>
                <a:cs typeface="Calibri" panose="020F0502020204030204" charset="0"/>
                <a:sym typeface="Poppins" panose="00000500000000000000"/>
              </a:rPr>
              <a:t>G. A. I. Devindi et al., </a:t>
            </a: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 charset="0"/>
                <a:ea typeface="Poppins" panose="00000500000000000000"/>
                <a:cs typeface="Calibri" panose="020F0502020204030204" charset="0"/>
                <a:sym typeface="Poppins" panose="00000500000000000000"/>
              </a:rPr>
              <a:t>“Multimodal Deep Convolutional Neural Network Pipeline for AI-Assisted Early Detection of Oral Cancer,” IEEE Access, 2024,                                                     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 charset="0"/>
              <a:ea typeface="Poppins" panose="00000500000000000000"/>
              <a:cs typeface="Calibri" panose="020F0502020204030204" charset="0"/>
              <a:sym typeface="Poppins" panose="00000500000000000000"/>
            </a:endParaRPr>
          </a:p>
          <a:p>
            <a:pPr marL="347345" marR="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altLang="en-US" sz="1000" b="1" i="0" u="none" strike="noStrike" cap="none">
                <a:solidFill>
                  <a:srgbClr val="000000"/>
                </a:solidFill>
                <a:latin typeface="Calibri" panose="020F0502020204030204" charset="0"/>
                <a:ea typeface="Poppins" panose="00000500000000000000"/>
                <a:cs typeface="Calibri" panose="020F0502020204030204" charset="0"/>
                <a:sym typeface="Poppins" panose="00000500000000000000"/>
              </a:rPr>
              <a:t>M. Das et al.,</a:t>
            </a: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 charset="0"/>
                <a:ea typeface="Poppins" panose="00000500000000000000"/>
                <a:cs typeface="Calibri" panose="020F0502020204030204" charset="0"/>
                <a:sym typeface="Poppins" panose="00000500000000000000"/>
              </a:rPr>
              <a:t> “An Ensemble Deep Learning Model for Oral Squamous Cell Carcinoma Detection Using Histopathological Image Analysis,” IEEE Access, 2024,                                   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 charset="0"/>
              <a:ea typeface="Poppins" panose="00000500000000000000"/>
              <a:cs typeface="Calibri" panose="020F0502020204030204" charset="0"/>
              <a:sym typeface="Poppins" panose="00000500000000000000"/>
            </a:endParaRPr>
          </a:p>
          <a:p>
            <a:pPr marL="347345" marR="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altLang="en-US" sz="1000" b="1" i="0" u="none" strike="noStrike" cap="none">
                <a:solidFill>
                  <a:srgbClr val="000000"/>
                </a:solidFill>
                <a:latin typeface="Calibri" panose="020F0502020204030204" charset="0"/>
                <a:ea typeface="Poppins" panose="00000500000000000000"/>
                <a:cs typeface="Calibri" panose="020F0502020204030204" charset="0"/>
                <a:sym typeface="Poppins" panose="00000500000000000000"/>
              </a:rPr>
              <a:t>S. Vasuki et al.,</a:t>
            </a: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 charset="0"/>
                <a:ea typeface="Poppins" panose="00000500000000000000"/>
                <a:cs typeface="Calibri" panose="020F0502020204030204" charset="0"/>
                <a:sym typeface="Poppins" panose="00000500000000000000"/>
              </a:rPr>
              <a:t> “Ensemble Deep Learning Framework for OSCC Classification Using Modified VGG and CNN Features with XGBoost,” in Proc. IEEE ICTEST, 2025, </a:t>
            </a:r>
            <a:endParaRPr lang="en-US" altLang="en-US" sz="1000" i="0" u="none" strike="noStrike" cap="none">
              <a:solidFill>
                <a:srgbClr val="000000"/>
              </a:solidFill>
              <a:latin typeface="Calibri" panose="020F0502020204030204" charset="0"/>
              <a:ea typeface="Poppins" panose="00000500000000000000"/>
              <a:cs typeface="Calibri" panose="020F0502020204030204" charset="0"/>
              <a:sym typeface="Poppins" panose="00000500000000000000"/>
            </a:endParaRPr>
          </a:p>
          <a:p>
            <a:pPr marL="347345" marR="0" lvl="1" indent="-2286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altLang="en-US" sz="1000" b="1" i="0" u="none" strike="noStrike" cap="none">
                <a:solidFill>
                  <a:srgbClr val="000000"/>
                </a:solidFill>
                <a:latin typeface="Calibri" panose="020F0502020204030204" charset="0"/>
                <a:ea typeface="Poppins" panose="00000500000000000000"/>
                <a:cs typeface="Calibri" panose="020F0502020204030204" charset="0"/>
                <a:sym typeface="Poppins" panose="00000500000000000000"/>
              </a:rPr>
              <a:t>Karishma Madhusudan Desai et al.,</a:t>
            </a:r>
            <a:r>
              <a:rPr lang="en-US" altLang="en-US" sz="1000" i="0" u="none" strike="noStrike" cap="none">
                <a:solidFill>
                  <a:srgbClr val="000000"/>
                </a:solidFill>
                <a:latin typeface="Calibri" panose="020F0502020204030204" charset="0"/>
                <a:ea typeface="Poppins" panose="00000500000000000000"/>
                <a:cs typeface="Calibri" panose="020F0502020204030204" charset="0"/>
                <a:sym typeface="Poppins" panose="00000500000000000000"/>
              </a:rPr>
              <a:t> “Screening of Oral Potentially Malignant Disorders and Oral Cancer Using Deep Learning Models,”                    </a:t>
            </a:r>
            <a:endParaRPr lang="en-US" altLang="en-US" sz="1000" i="0" u="none" strike="noStrike" cap="non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8745" marR="0" lvl="1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lang="en-US" altLang="en-US" sz="1000" i="0" u="none" strike="noStrike" cap="none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-1085850" y="111832"/>
            <a:ext cx="2874872" cy="27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        </a:t>
            </a:r>
            <a:r>
              <a:rPr 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Paper_id :</a:t>
            </a:r>
            <a:r>
              <a:rPr lang="en-IN" altLang="en-US" sz="1100" b="1" i="0" u="none" strike="noStrike" cap="none">
                <a:solidFill>
                  <a:srgbClr val="1668AB"/>
                </a:solidFill>
                <a:latin typeface="IBM Plex Sans Condensed" panose="020B0806050203000203"/>
                <a:ea typeface="IBM Plex Sans Condensed" panose="020B0806050203000203"/>
                <a:cs typeface="IBM Plex Sans Condensed" panose="020B0806050203000203"/>
                <a:sym typeface="IBM Plex Sans Condensed" panose="020B0806050203000203"/>
              </a:rPr>
              <a:t>173</a:t>
            </a:r>
            <a:endParaRPr lang="en-IN" altLang="en-US" sz="1100" b="1" i="0" u="none" strike="noStrike" cap="none">
              <a:solidFill>
                <a:srgbClr val="1668AB"/>
              </a:solidFill>
              <a:latin typeface="IBM Plex Sans Condensed" panose="020B0806050203000203"/>
              <a:ea typeface="IBM Plex Sans Condensed" panose="020B0806050203000203"/>
              <a:cs typeface="IBM Plex Sans Condensed" panose="020B0806050203000203"/>
              <a:sym typeface="IBM Plex Sans Condensed" panose="020B0806050203000203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80*76"/>
  <p:tag name="TABLE_ENDDRAG_RECT" val="37*55*380*76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5333</Words>
  <Application>WPS Presentation</Application>
  <PresentationFormat/>
  <Paragraphs>155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IBM Plex Sans Condensed</vt:lpstr>
      <vt:lpstr>Wingdings</vt:lpstr>
      <vt:lpstr>Poppins</vt:lpstr>
      <vt:lpstr>DM Sans</vt:lpstr>
      <vt:lpstr>Calibri</vt:lpstr>
      <vt:lpstr>Microsoft YaHei</vt:lpstr>
      <vt:lpstr>Arial Unicode MS</vt:lpstr>
      <vt:lpstr>Segoe Print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</dc:creator>
  <cp:lastModifiedBy>Chandanapriya Badina</cp:lastModifiedBy>
  <cp:revision>34</cp:revision>
  <dcterms:created xsi:type="dcterms:W3CDTF">2025-11-13T04:24:00Z</dcterms:created>
  <dcterms:modified xsi:type="dcterms:W3CDTF">2025-11-15T04:28:02Z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2B7F9A07A3AA4CFEBA2B2283E161A0A7_12</vt:lpwstr>
  </property>
  <property fmtid="{D5CDD505-2E9C-101B-9397-08002B2CF9AE}" pid="3" name="KSOProductBuildVer">
    <vt:lpwstr>1033-12.2.0.23155</vt:lpwstr>
  </property>
</Properties>
</file>