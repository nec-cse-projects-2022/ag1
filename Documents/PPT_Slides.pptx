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7" r:id="rId3"/>
    <p:sldId id="258" r:id="rId4"/>
    <p:sldId id="259" r:id="rId5"/>
    <p:sldId id="260" r:id="rId7"/>
    <p:sldId id="280" r:id="rId8"/>
    <p:sldId id="261" r:id="rId9"/>
    <p:sldId id="275" r:id="rId10"/>
    <p:sldId id="262" r:id="rId11"/>
    <p:sldId id="276" r:id="rId12"/>
    <p:sldId id="263" r:id="rId13"/>
    <p:sldId id="264" r:id="rId14"/>
    <p:sldId id="265" r:id="rId15"/>
    <p:sldId id="266" r:id="rId16"/>
    <p:sldId id="267" r:id="rId17"/>
    <p:sldId id="277" r:id="rId18"/>
    <p:sldId id="285" r:id="rId19"/>
    <p:sldId id="286" r:id="rId20"/>
    <p:sldId id="287" r:id="rId21"/>
    <p:sldId id="289" r:id="rId22"/>
    <p:sldId id="290" r:id="rId23"/>
    <p:sldId id="268" r:id="rId24"/>
    <p:sldId id="269" r:id="rId25"/>
    <p:sldId id="278" r:id="rId26"/>
    <p:sldId id="291" r:id="rId27"/>
    <p:sldId id="270" r:id="rId28"/>
    <p:sldId id="284" r:id="rId29"/>
    <p:sldId id="271" r:id="rId30"/>
    <p:sldId id="279" r:id="rId31"/>
    <p:sldId id="272" r:id="rId32"/>
    <p:sldId id="273"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82" d="100"/>
          <a:sy n="82" d="100"/>
        </p:scale>
        <p:origin x="40"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6722B98-188E-45D3-9771-53015DCEA9BD}" type="datetimeFigureOut">
              <a:rPr lang="en-IN" smtClean="0"/>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90E2F6F-C300-48B8-AB12-E45B87785B46}"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0E2F6F-C300-48B8-AB12-E45B87785B46}"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5505148" y="6451049"/>
            <a:ext cx="644525"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5" name="Holder 5"/>
          <p:cNvSpPr>
            <a:spLocks noGrp="1"/>
          </p:cNvSpPr>
          <p:nvPr>
            <p:ph type="dt" sz="half" idx="6"/>
          </p:nvPr>
        </p:nvSpPr>
        <p:spPr>
          <a:xfrm>
            <a:off x="917575" y="6451049"/>
            <a:ext cx="737235"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hyperlink" Target="https://ieeexplore.ieee.org/document/10649563" TargetMode="External"/><Relationship Id="rId3" Type="http://schemas.openxmlformats.org/officeDocument/2006/relationships/hyperlink" Target="https://ieeexplore.ieee.org/document/10664507" TargetMode="External"/><Relationship Id="rId2" Type="http://schemas.openxmlformats.org/officeDocument/2006/relationships/hyperlink" Target="https://ieeexplore.ieee.org/document/11016737" TargetMode="Externa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hyperlink" Target="https://ieeexplore.ieee.org/document/10932593" TargetMode="External"/><Relationship Id="rId1" Type="http://schemas.openxmlformats.org/officeDocument/2006/relationships/hyperlink" Target="https://ieeexplore.ieee.org/document/1104244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image" Target="../media/image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45463" y="283463"/>
            <a:ext cx="10101072" cy="754380"/>
          </a:xfrm>
          <a:prstGeom prst="rect">
            <a:avLst/>
          </a:prstGeom>
        </p:spPr>
        <p:txBody>
          <a:bodyPr vert="horz" wrap="square" lIns="0" tIns="478010" rIns="0" bIns="0" rtlCol="0">
            <a:spAutoFit/>
          </a:bodyPr>
          <a:lstStyle/>
          <a:p>
            <a:pPr marL="248285" algn="ctr">
              <a:lnSpc>
                <a:spcPct val="100000"/>
              </a:lnSpc>
              <a:spcBef>
                <a:spcPts val="510"/>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dirty="0"/>
              <a:t>and</a:t>
            </a:r>
            <a:r>
              <a:rPr sz="1800" spc="40" dirty="0"/>
              <a:t> </a:t>
            </a:r>
            <a:r>
              <a:rPr sz="1800" spc="-10" dirty="0"/>
              <a:t>Engineering</a:t>
            </a:r>
            <a:endParaRPr sz="2400" dirty="0"/>
          </a:p>
        </p:txBody>
      </p:sp>
      <p:sp>
        <p:nvSpPr>
          <p:cNvPr id="4" name="object 4"/>
          <p:cNvSpPr txBox="1"/>
          <p:nvPr/>
        </p:nvSpPr>
        <p:spPr>
          <a:xfrm>
            <a:off x="5704840" y="1946592"/>
            <a:ext cx="1503045" cy="266065"/>
          </a:xfrm>
          <a:prstGeom prst="rect">
            <a:avLst/>
          </a:prstGeom>
        </p:spPr>
        <p:txBody>
          <a:bodyPr vert="horz" wrap="square" lIns="0" tIns="15875" rIns="0" bIns="0" rtlCol="0">
            <a:spAutoFit/>
          </a:bodyPr>
          <a:lstStyle/>
          <a:p>
            <a:pPr marL="12700">
              <a:lnSpc>
                <a:spcPct val="100000"/>
              </a:lnSpc>
              <a:spcBef>
                <a:spcPts val="125"/>
              </a:spcBef>
            </a:pPr>
            <a:r>
              <a:rPr sz="1550" dirty="0">
                <a:latin typeface="Times New Roman" panose="02020603050405020304"/>
                <a:cs typeface="Times New Roman" panose="02020603050405020304"/>
              </a:rPr>
              <a:t>PRESENTED</a:t>
            </a:r>
            <a:r>
              <a:rPr sz="1550" spc="175" dirty="0">
                <a:latin typeface="Times New Roman" panose="02020603050405020304"/>
                <a:cs typeface="Times New Roman" panose="02020603050405020304"/>
              </a:rPr>
              <a:t> </a:t>
            </a:r>
            <a:r>
              <a:rPr sz="1550" spc="-25" dirty="0">
                <a:latin typeface="Times New Roman" panose="02020603050405020304"/>
                <a:cs typeface="Times New Roman" panose="02020603050405020304"/>
              </a:rPr>
              <a:t>BY</a:t>
            </a:r>
            <a:endParaRPr sz="1550">
              <a:latin typeface="Times New Roman" panose="02020603050405020304"/>
              <a:cs typeface="Times New Roman" panose="02020603050405020304"/>
            </a:endParaRPr>
          </a:p>
        </p:txBody>
      </p:sp>
      <p:sp>
        <p:nvSpPr>
          <p:cNvPr id="5" name="object 5"/>
          <p:cNvSpPr txBox="1"/>
          <p:nvPr/>
        </p:nvSpPr>
        <p:spPr>
          <a:xfrm>
            <a:off x="3791839" y="2186876"/>
            <a:ext cx="1697989" cy="1353820"/>
          </a:xfrm>
          <a:prstGeom prst="rect">
            <a:avLst/>
          </a:prstGeom>
        </p:spPr>
        <p:txBody>
          <a:bodyPr vert="horz" wrap="square" lIns="0" tIns="12065" rIns="0" bIns="0" rtlCol="0">
            <a:spAutoFit/>
          </a:bodyPr>
          <a:lstStyle/>
          <a:p>
            <a:pPr marL="12700" marR="5080" algn="just">
              <a:lnSpc>
                <a:spcPct val="137000"/>
              </a:lnSpc>
              <a:spcBef>
                <a:spcPts val="95"/>
              </a:spcBef>
            </a:pPr>
            <a:r>
              <a:rPr lang="en-IN" sz="1550" spc="-10" dirty="0">
                <a:latin typeface="Times New Roman" panose="02020603050405020304"/>
                <a:cs typeface="Times New Roman" panose="02020603050405020304"/>
              </a:rPr>
              <a:t>Pavitra Utalapalli </a:t>
            </a:r>
            <a:endParaRPr lang="en-IN" sz="1550" spc="-10" dirty="0">
              <a:latin typeface="Times New Roman" panose="02020603050405020304"/>
              <a:cs typeface="Times New Roman" panose="02020603050405020304"/>
            </a:endParaRPr>
          </a:p>
          <a:p>
            <a:pPr marL="12700" marR="5080" algn="just">
              <a:lnSpc>
                <a:spcPct val="137000"/>
              </a:lnSpc>
              <a:spcBef>
                <a:spcPts val="95"/>
              </a:spcBef>
            </a:pPr>
            <a:r>
              <a:rPr lang="en-IN" sz="1550" spc="-10" dirty="0">
                <a:latin typeface="Times New Roman" panose="02020603050405020304"/>
                <a:cs typeface="Times New Roman" panose="02020603050405020304"/>
              </a:rPr>
              <a:t>Vijaya Chilamkuri  </a:t>
            </a:r>
            <a:r>
              <a:rPr sz="1550" spc="-10" dirty="0">
                <a:latin typeface="Times New Roman" panose="02020603050405020304"/>
                <a:cs typeface="Times New Roman" panose="02020603050405020304"/>
              </a:rPr>
              <a:t> </a:t>
            </a:r>
            <a:r>
              <a:rPr lang="en-IN" sz="1550" spc="-10" dirty="0">
                <a:latin typeface="Times New Roman" panose="02020603050405020304"/>
                <a:cs typeface="Times New Roman" panose="02020603050405020304"/>
              </a:rPr>
              <a:t>                  </a:t>
            </a:r>
            <a:r>
              <a:rPr sz="1550" spc="-10" dirty="0">
                <a:latin typeface="Times New Roman" panose="02020603050405020304"/>
                <a:cs typeface="Times New Roman" panose="02020603050405020304"/>
              </a:rPr>
              <a:t> </a:t>
            </a:r>
            <a:endParaRPr lang="en-IN" sz="1550" spc="-10" dirty="0">
              <a:latin typeface="Times New Roman" panose="02020603050405020304"/>
              <a:cs typeface="Times New Roman" panose="02020603050405020304"/>
            </a:endParaRPr>
          </a:p>
          <a:p>
            <a:pPr marL="12700" marR="5080" algn="just">
              <a:lnSpc>
                <a:spcPct val="137000"/>
              </a:lnSpc>
              <a:spcBef>
                <a:spcPts val="95"/>
              </a:spcBef>
            </a:pPr>
            <a:r>
              <a:rPr lang="en-IN" altLang="en-US" sz="1550" dirty="0">
                <a:latin typeface="Times New Roman" panose="02020603050405020304"/>
                <a:cs typeface="Times New Roman" panose="02020603050405020304"/>
              </a:rPr>
              <a:t>Mounika Chevula</a:t>
            </a:r>
            <a:endParaRPr lang="en-IN" altLang="en-US" sz="1550" dirty="0">
              <a:latin typeface="Times New Roman" panose="02020603050405020304"/>
              <a:cs typeface="Times New Roman" panose="02020603050405020304"/>
            </a:endParaRPr>
          </a:p>
          <a:p>
            <a:pPr marL="12700" marR="5080" algn="just">
              <a:lnSpc>
                <a:spcPct val="137000"/>
              </a:lnSpc>
              <a:spcBef>
                <a:spcPts val="95"/>
              </a:spcBef>
            </a:pPr>
            <a:r>
              <a:rPr lang="en-IN" altLang="en-US" sz="1550" dirty="0">
                <a:latin typeface="Times New Roman" panose="02020603050405020304"/>
                <a:cs typeface="Times New Roman" panose="02020603050405020304"/>
              </a:rPr>
              <a:t>Arthi Achaibhar</a:t>
            </a:r>
            <a:endParaRPr lang="en-IN" altLang="en-US" sz="1550" dirty="0">
              <a:latin typeface="Times New Roman" panose="02020603050405020304"/>
              <a:cs typeface="Times New Roman" panose="02020603050405020304"/>
            </a:endParaRPr>
          </a:p>
        </p:txBody>
      </p:sp>
      <p:sp>
        <p:nvSpPr>
          <p:cNvPr id="6" name="object 6"/>
          <p:cNvSpPr txBox="1"/>
          <p:nvPr/>
        </p:nvSpPr>
        <p:spPr>
          <a:xfrm>
            <a:off x="7452360" y="2162175"/>
            <a:ext cx="1310640" cy="1280795"/>
          </a:xfrm>
          <a:prstGeom prst="rect">
            <a:avLst/>
          </a:prstGeom>
        </p:spPr>
        <p:txBody>
          <a:bodyPr vert="horz" wrap="square" lIns="0" tIns="99695" rIns="0" bIns="0" rtlCol="0">
            <a:noAutofit/>
          </a:bodyPr>
          <a:lstStyle/>
          <a:p>
            <a:pPr marL="12700">
              <a:lnSpc>
                <a:spcPct val="100000"/>
              </a:lnSpc>
              <a:spcBef>
                <a:spcPts val="785"/>
              </a:spcBef>
            </a:pPr>
            <a:r>
              <a:rPr sz="1550" dirty="0">
                <a:latin typeface="Times New Roman" panose="02020603050405020304"/>
                <a:cs typeface="Times New Roman" panose="02020603050405020304"/>
              </a:rPr>
              <a:t>(</a:t>
            </a:r>
            <a:r>
              <a:rPr lang="en-IN" sz="1550" dirty="0">
                <a:latin typeface="Times New Roman" panose="02020603050405020304"/>
                <a:cs typeface="Times New Roman" panose="02020603050405020304"/>
              </a:rPr>
              <a:t>22471A0564</a:t>
            </a:r>
            <a:r>
              <a:rPr sz="1550" spc="-20" dirty="0">
                <a:latin typeface="Times New Roman" panose="02020603050405020304"/>
                <a:cs typeface="Times New Roman" panose="02020603050405020304"/>
              </a:rPr>
              <a:t>)</a:t>
            </a:r>
            <a:endParaRPr sz="1550" dirty="0">
              <a:latin typeface="Times New Roman" panose="02020603050405020304"/>
              <a:cs typeface="Times New Roman" panose="02020603050405020304"/>
            </a:endParaRPr>
          </a:p>
          <a:p>
            <a:pPr marL="12700">
              <a:lnSpc>
                <a:spcPct val="100000"/>
              </a:lnSpc>
              <a:spcBef>
                <a:spcPts val="695"/>
              </a:spcBef>
            </a:pPr>
            <a:r>
              <a:rPr sz="1550" dirty="0">
                <a:latin typeface="Times New Roman" panose="02020603050405020304"/>
                <a:cs typeface="Times New Roman" panose="02020603050405020304"/>
              </a:rPr>
              <a:t>(</a:t>
            </a:r>
            <a:r>
              <a:rPr lang="en-IN" sz="1550" dirty="0">
                <a:latin typeface="Times New Roman" panose="02020603050405020304"/>
                <a:cs typeface="Times New Roman" panose="02020603050405020304"/>
              </a:rPr>
              <a:t>22471A0512</a:t>
            </a:r>
            <a:r>
              <a:rPr sz="1550" spc="-20" dirty="0">
                <a:latin typeface="Times New Roman" panose="02020603050405020304"/>
                <a:cs typeface="Times New Roman" panose="02020603050405020304"/>
              </a:rPr>
              <a:t>)</a:t>
            </a:r>
            <a:endParaRPr sz="1550" dirty="0">
              <a:latin typeface="Times New Roman" panose="02020603050405020304"/>
              <a:cs typeface="Times New Roman" panose="02020603050405020304"/>
            </a:endParaRPr>
          </a:p>
          <a:p>
            <a:pPr marL="12700">
              <a:lnSpc>
                <a:spcPct val="100000"/>
              </a:lnSpc>
              <a:spcBef>
                <a:spcPts val="695"/>
              </a:spcBef>
            </a:pPr>
            <a:r>
              <a:rPr sz="1550" dirty="0">
                <a:latin typeface="Times New Roman" panose="02020603050405020304"/>
                <a:cs typeface="Times New Roman" panose="02020603050405020304"/>
              </a:rPr>
              <a:t>(</a:t>
            </a:r>
            <a:r>
              <a:rPr lang="en-IN" sz="1550" dirty="0">
                <a:latin typeface="Times New Roman" panose="02020603050405020304"/>
                <a:cs typeface="Times New Roman" panose="02020603050405020304"/>
              </a:rPr>
              <a:t>22471A0510</a:t>
            </a:r>
            <a:r>
              <a:rPr sz="1550" spc="-20" dirty="0">
                <a:latin typeface="Times New Roman" panose="02020603050405020304"/>
                <a:cs typeface="Times New Roman" panose="02020603050405020304"/>
              </a:rPr>
              <a:t>)</a:t>
            </a:r>
            <a:endParaRPr sz="1550" spc="-20" dirty="0">
              <a:latin typeface="Times New Roman" panose="02020603050405020304"/>
              <a:cs typeface="Times New Roman" panose="02020603050405020304"/>
            </a:endParaRPr>
          </a:p>
          <a:p>
            <a:pPr marL="12700">
              <a:lnSpc>
                <a:spcPct val="100000"/>
              </a:lnSpc>
              <a:spcBef>
                <a:spcPts val="695"/>
              </a:spcBef>
            </a:pPr>
            <a:r>
              <a:rPr lang="en-IN" altLang="en-US" sz="1550" dirty="0">
                <a:latin typeface="Times New Roman" panose="02020603050405020304"/>
                <a:cs typeface="Times New Roman" panose="02020603050405020304"/>
              </a:rPr>
              <a:t>(22471A0501)</a:t>
            </a:r>
            <a:endParaRPr lang="en-IN" altLang="en-US" sz="1550" dirty="0">
              <a:latin typeface="Times New Roman" panose="02020603050405020304"/>
              <a:cs typeface="Times New Roman" panose="02020603050405020304"/>
            </a:endParaRPr>
          </a:p>
        </p:txBody>
      </p:sp>
      <p:sp>
        <p:nvSpPr>
          <p:cNvPr id="7" name="object 7"/>
          <p:cNvSpPr txBox="1"/>
          <p:nvPr/>
        </p:nvSpPr>
        <p:spPr>
          <a:xfrm>
            <a:off x="4064634" y="3599878"/>
            <a:ext cx="4304665" cy="225869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006600"/>
                </a:solidFill>
                <a:latin typeface="Times New Roman" panose="02020603050405020304"/>
                <a:cs typeface="Times New Roman" panose="02020603050405020304"/>
              </a:rPr>
              <a:t>Under</a:t>
            </a:r>
            <a:r>
              <a:rPr sz="1800" spc="20" dirty="0">
                <a:solidFill>
                  <a:srgbClr val="006600"/>
                </a:solidFill>
                <a:latin typeface="Times New Roman" panose="02020603050405020304"/>
                <a:cs typeface="Times New Roman" panose="02020603050405020304"/>
              </a:rPr>
              <a:t> </a:t>
            </a:r>
            <a:r>
              <a:rPr sz="1800" dirty="0">
                <a:solidFill>
                  <a:srgbClr val="006600"/>
                </a:solidFill>
                <a:latin typeface="Times New Roman" panose="02020603050405020304"/>
                <a:cs typeface="Times New Roman" panose="02020603050405020304"/>
              </a:rPr>
              <a:t>the</a:t>
            </a:r>
            <a:r>
              <a:rPr sz="1800" spc="-30" dirty="0">
                <a:solidFill>
                  <a:srgbClr val="006600"/>
                </a:solidFill>
                <a:latin typeface="Times New Roman" panose="02020603050405020304"/>
                <a:cs typeface="Times New Roman" panose="02020603050405020304"/>
              </a:rPr>
              <a:t> </a:t>
            </a:r>
            <a:r>
              <a:rPr sz="1800" dirty="0">
                <a:solidFill>
                  <a:srgbClr val="006600"/>
                </a:solidFill>
                <a:latin typeface="Times New Roman" panose="02020603050405020304"/>
                <a:cs typeface="Times New Roman" panose="02020603050405020304"/>
              </a:rPr>
              <a:t>Guidance</a:t>
            </a:r>
            <a:r>
              <a:rPr sz="1800" spc="-25" dirty="0">
                <a:solidFill>
                  <a:srgbClr val="006600"/>
                </a:solidFill>
                <a:latin typeface="Times New Roman" panose="02020603050405020304"/>
                <a:cs typeface="Times New Roman" panose="02020603050405020304"/>
              </a:rPr>
              <a:t> of,</a:t>
            </a:r>
            <a:endParaRPr sz="1800" dirty="0">
              <a:latin typeface="Times New Roman" panose="02020603050405020304"/>
              <a:cs typeface="Times New Roman" panose="02020603050405020304"/>
            </a:endParaRPr>
          </a:p>
          <a:p>
            <a:pPr algn="ctr">
              <a:lnSpc>
                <a:spcPct val="100000"/>
              </a:lnSpc>
              <a:spcBef>
                <a:spcPts val="1770"/>
              </a:spcBef>
            </a:pPr>
            <a:r>
              <a:rPr lang="en-US" altLang="en-US" sz="1550" b="1" dirty="0">
                <a:latin typeface="Times New Roman" panose="02020603050405020304"/>
                <a:cs typeface="Times New Roman" panose="02020603050405020304"/>
              </a:rPr>
              <a:t>Dr. S. N. Tirumala Rao</a:t>
            </a:r>
            <a:r>
              <a:rPr lang="en-IN" altLang="en-US" sz="1550" b="1" dirty="0">
                <a:latin typeface="Times New Roman" panose="02020603050405020304"/>
                <a:cs typeface="Times New Roman" panose="02020603050405020304"/>
              </a:rPr>
              <a:t>,</a:t>
            </a:r>
            <a:r>
              <a:rPr lang="en-US" altLang="en-US" sz="1550" b="1" dirty="0">
                <a:latin typeface="Times New Roman" panose="02020603050405020304"/>
                <a:cs typeface="Times New Roman" panose="02020603050405020304"/>
              </a:rPr>
              <a:t> </a:t>
            </a:r>
            <a:r>
              <a:rPr lang="en-US" altLang="en-US" sz="1550" b="0" dirty="0">
                <a:latin typeface="Times New Roman" panose="02020603050405020304"/>
                <a:cs typeface="Times New Roman" panose="02020603050405020304"/>
              </a:rPr>
              <a:t>M.Tech., Ph.D. </a:t>
            </a:r>
            <a:endParaRPr lang="en-US" altLang="en-US" sz="1550" b="1" dirty="0">
              <a:latin typeface="Times New Roman" panose="02020603050405020304"/>
              <a:cs typeface="Times New Roman" panose="02020603050405020304"/>
            </a:endParaRPr>
          </a:p>
          <a:p>
            <a:pPr algn="ctr">
              <a:lnSpc>
                <a:spcPct val="100000"/>
              </a:lnSpc>
              <a:spcBef>
                <a:spcPts val="470"/>
              </a:spcBef>
            </a:pPr>
            <a:r>
              <a:rPr lang="en-US" altLang="en-US" sz="1550" b="1" spc="-10" dirty="0">
                <a:solidFill>
                  <a:schemeClr val="tx1"/>
                </a:solidFill>
                <a:latin typeface="Times New Roman" panose="02020603050405020304"/>
                <a:cs typeface="Times New Roman" panose="02020603050405020304"/>
              </a:rPr>
              <a:t> Professor &amp; HOD</a:t>
            </a:r>
            <a:r>
              <a:rPr lang="en-US" altLang="en-US" sz="1550" b="1" spc="-10" dirty="0">
                <a:solidFill>
                  <a:srgbClr val="888888"/>
                </a:solidFill>
                <a:latin typeface="Times New Roman" panose="02020603050405020304"/>
                <a:cs typeface="Times New Roman" panose="02020603050405020304"/>
              </a:rPr>
              <a:t> </a:t>
            </a:r>
            <a:r>
              <a:rPr sz="1550" b="1" spc="-10" dirty="0">
                <a:solidFill>
                  <a:srgbClr val="888888"/>
                </a:solidFill>
                <a:latin typeface="Times New Roman" panose="02020603050405020304"/>
                <a:cs typeface="Times New Roman" panose="02020603050405020304"/>
              </a:rPr>
              <a:t>,</a:t>
            </a:r>
            <a:endParaRPr sz="1550" b="1" dirty="0">
              <a:latin typeface="Times New Roman" panose="02020603050405020304"/>
              <a:cs typeface="Times New Roman" panose="02020603050405020304"/>
            </a:endParaRPr>
          </a:p>
          <a:p>
            <a:pPr algn="ctr">
              <a:lnSpc>
                <a:spcPct val="100000"/>
              </a:lnSpc>
              <a:spcBef>
                <a:spcPts val="995"/>
              </a:spcBef>
            </a:pPr>
            <a:r>
              <a:rPr sz="1550" dirty="0">
                <a:solidFill>
                  <a:schemeClr val="tx1"/>
                </a:solidFill>
                <a:latin typeface="Times New Roman" panose="02020603050405020304"/>
                <a:cs typeface="Times New Roman" panose="02020603050405020304"/>
              </a:rPr>
              <a:t>Department</a:t>
            </a:r>
            <a:r>
              <a:rPr sz="1550" spc="90" dirty="0">
                <a:solidFill>
                  <a:schemeClr val="tx1"/>
                </a:solidFill>
                <a:latin typeface="Times New Roman" panose="02020603050405020304"/>
                <a:cs typeface="Times New Roman" panose="02020603050405020304"/>
              </a:rPr>
              <a:t> </a:t>
            </a:r>
            <a:r>
              <a:rPr sz="1550" dirty="0">
                <a:solidFill>
                  <a:schemeClr val="tx1"/>
                </a:solidFill>
                <a:latin typeface="Times New Roman" panose="02020603050405020304"/>
                <a:cs typeface="Times New Roman" panose="02020603050405020304"/>
              </a:rPr>
              <a:t>of</a:t>
            </a:r>
            <a:r>
              <a:rPr sz="1550" spc="180" dirty="0">
                <a:solidFill>
                  <a:schemeClr val="tx1"/>
                </a:solidFill>
                <a:latin typeface="Times New Roman" panose="02020603050405020304"/>
                <a:cs typeface="Times New Roman" panose="02020603050405020304"/>
              </a:rPr>
              <a:t> </a:t>
            </a:r>
            <a:r>
              <a:rPr sz="1550" dirty="0">
                <a:solidFill>
                  <a:schemeClr val="tx1"/>
                </a:solidFill>
                <a:latin typeface="Times New Roman" panose="02020603050405020304"/>
                <a:cs typeface="Times New Roman" panose="02020603050405020304"/>
              </a:rPr>
              <a:t>Computer</a:t>
            </a:r>
            <a:r>
              <a:rPr sz="1550" spc="80" dirty="0">
                <a:solidFill>
                  <a:schemeClr val="tx1"/>
                </a:solidFill>
                <a:latin typeface="Times New Roman" panose="02020603050405020304"/>
                <a:cs typeface="Times New Roman" panose="02020603050405020304"/>
              </a:rPr>
              <a:t> </a:t>
            </a:r>
            <a:r>
              <a:rPr sz="1550" dirty="0">
                <a:solidFill>
                  <a:schemeClr val="tx1"/>
                </a:solidFill>
                <a:latin typeface="Times New Roman" panose="02020603050405020304"/>
                <a:cs typeface="Times New Roman" panose="02020603050405020304"/>
              </a:rPr>
              <a:t>Science</a:t>
            </a:r>
            <a:r>
              <a:rPr sz="1550" spc="145" dirty="0">
                <a:solidFill>
                  <a:schemeClr val="tx1"/>
                </a:solidFill>
                <a:latin typeface="Times New Roman" panose="02020603050405020304"/>
                <a:cs typeface="Times New Roman" panose="02020603050405020304"/>
              </a:rPr>
              <a:t> </a:t>
            </a:r>
            <a:r>
              <a:rPr sz="1550" dirty="0">
                <a:solidFill>
                  <a:schemeClr val="tx1"/>
                </a:solidFill>
                <a:latin typeface="Times New Roman" panose="02020603050405020304"/>
                <a:cs typeface="Times New Roman" panose="02020603050405020304"/>
              </a:rPr>
              <a:t>and</a:t>
            </a:r>
            <a:r>
              <a:rPr sz="1550" spc="135" dirty="0">
                <a:solidFill>
                  <a:schemeClr val="tx1"/>
                </a:solidFill>
                <a:latin typeface="Times New Roman" panose="02020603050405020304"/>
                <a:cs typeface="Times New Roman" panose="02020603050405020304"/>
              </a:rPr>
              <a:t> </a:t>
            </a:r>
            <a:r>
              <a:rPr sz="1550" spc="-10" dirty="0">
                <a:solidFill>
                  <a:schemeClr val="tx1"/>
                </a:solidFill>
                <a:latin typeface="Times New Roman" panose="02020603050405020304"/>
                <a:cs typeface="Times New Roman" panose="02020603050405020304"/>
              </a:rPr>
              <a:t>Engineering,</a:t>
            </a:r>
            <a:endParaRPr sz="1550" dirty="0">
              <a:solidFill>
                <a:schemeClr val="tx1"/>
              </a:solidFill>
              <a:latin typeface="Times New Roman" panose="02020603050405020304"/>
              <a:cs typeface="Times New Roman" panose="02020603050405020304"/>
            </a:endParaRPr>
          </a:p>
          <a:p>
            <a:pPr marL="57785" marR="61595" algn="ctr">
              <a:lnSpc>
                <a:spcPct val="174000"/>
              </a:lnSpc>
              <a:spcBef>
                <a:spcPts val="70"/>
              </a:spcBef>
            </a:pPr>
            <a:r>
              <a:rPr sz="1550" dirty="0">
                <a:solidFill>
                  <a:schemeClr val="tx1"/>
                </a:solidFill>
                <a:latin typeface="Times New Roman" panose="02020603050405020304"/>
                <a:cs typeface="Times New Roman" panose="02020603050405020304"/>
              </a:rPr>
              <a:t>Narasaraopeta</a:t>
            </a:r>
            <a:r>
              <a:rPr sz="1550" spc="200" dirty="0">
                <a:solidFill>
                  <a:schemeClr val="tx1"/>
                </a:solidFill>
                <a:latin typeface="Times New Roman" panose="02020603050405020304"/>
                <a:cs typeface="Times New Roman" panose="02020603050405020304"/>
              </a:rPr>
              <a:t> </a:t>
            </a:r>
            <a:r>
              <a:rPr sz="1550" dirty="0">
                <a:solidFill>
                  <a:schemeClr val="tx1"/>
                </a:solidFill>
                <a:latin typeface="Times New Roman" panose="02020603050405020304"/>
                <a:cs typeface="Times New Roman" panose="02020603050405020304"/>
              </a:rPr>
              <a:t>Engineering</a:t>
            </a:r>
            <a:r>
              <a:rPr sz="1550" spc="185" dirty="0">
                <a:solidFill>
                  <a:schemeClr val="tx1"/>
                </a:solidFill>
                <a:latin typeface="Times New Roman" panose="02020603050405020304"/>
                <a:cs typeface="Times New Roman" panose="02020603050405020304"/>
              </a:rPr>
              <a:t> </a:t>
            </a:r>
            <a:r>
              <a:rPr sz="1550" dirty="0">
                <a:solidFill>
                  <a:schemeClr val="tx1"/>
                </a:solidFill>
                <a:latin typeface="Times New Roman" panose="02020603050405020304"/>
                <a:cs typeface="Times New Roman" panose="02020603050405020304"/>
              </a:rPr>
              <a:t>College</a:t>
            </a:r>
            <a:r>
              <a:rPr sz="1550" spc="204" dirty="0">
                <a:solidFill>
                  <a:schemeClr val="tx1"/>
                </a:solidFill>
                <a:latin typeface="Times New Roman" panose="02020603050405020304"/>
                <a:cs typeface="Times New Roman" panose="02020603050405020304"/>
              </a:rPr>
              <a:t> </a:t>
            </a:r>
            <a:r>
              <a:rPr sz="1550" spc="-10" dirty="0">
                <a:solidFill>
                  <a:schemeClr val="tx1"/>
                </a:solidFill>
                <a:latin typeface="Times New Roman" panose="02020603050405020304"/>
                <a:cs typeface="Times New Roman" panose="02020603050405020304"/>
              </a:rPr>
              <a:t>(Autonomous), </a:t>
            </a:r>
            <a:r>
              <a:rPr sz="1550" dirty="0">
                <a:solidFill>
                  <a:schemeClr val="tx1"/>
                </a:solidFill>
                <a:latin typeface="Times New Roman" panose="02020603050405020304"/>
                <a:cs typeface="Times New Roman" panose="02020603050405020304"/>
              </a:rPr>
              <a:t>Narasaraopet-</a:t>
            </a:r>
            <a:r>
              <a:rPr sz="1550" spc="150" dirty="0">
                <a:solidFill>
                  <a:schemeClr val="tx1"/>
                </a:solidFill>
                <a:latin typeface="Times New Roman" panose="02020603050405020304"/>
                <a:cs typeface="Times New Roman" panose="02020603050405020304"/>
              </a:rPr>
              <a:t> </a:t>
            </a:r>
            <a:r>
              <a:rPr sz="1550" dirty="0">
                <a:solidFill>
                  <a:schemeClr val="tx1"/>
                </a:solidFill>
                <a:latin typeface="Times New Roman" panose="02020603050405020304"/>
                <a:cs typeface="Times New Roman" panose="02020603050405020304"/>
              </a:rPr>
              <a:t>522</a:t>
            </a:r>
            <a:r>
              <a:rPr sz="1550" spc="-20" dirty="0">
                <a:solidFill>
                  <a:schemeClr val="tx1"/>
                </a:solidFill>
                <a:latin typeface="Times New Roman" panose="02020603050405020304"/>
                <a:cs typeface="Times New Roman" panose="02020603050405020304"/>
              </a:rPr>
              <a:t>601.</a:t>
            </a:r>
            <a:endParaRPr sz="1550" spc="-20" dirty="0">
              <a:solidFill>
                <a:schemeClr val="tx1"/>
              </a:solidFill>
              <a:latin typeface="Times New Roman" panose="02020603050405020304"/>
              <a:cs typeface="Times New Roman" panose="02020603050405020304"/>
            </a:endParaRPr>
          </a:p>
        </p:txBody>
      </p:sp>
      <p:pic>
        <p:nvPicPr>
          <p:cNvPr id="8" name="object 8"/>
          <p:cNvPicPr/>
          <p:nvPr/>
        </p:nvPicPr>
        <p:blipFill>
          <a:blip r:embed="rId1" cstate="print"/>
          <a:stretch>
            <a:fillRect/>
          </a:stretch>
        </p:blipFill>
        <p:spPr>
          <a:xfrm>
            <a:off x="66675" y="131344"/>
            <a:ext cx="3648074" cy="505326"/>
          </a:xfrm>
          <a:prstGeom prst="rect">
            <a:avLst/>
          </a:prstGeom>
        </p:spPr>
      </p:pic>
      <p:sp>
        <p:nvSpPr>
          <p:cNvPr id="11" name="object 11"/>
          <p:cNvSpPr txBox="1">
            <a:spLocks noGrp="1"/>
          </p:cNvSpPr>
          <p:nvPr>
            <p:ph type="ftr" sz="quarter" idx="5"/>
          </p:nvPr>
        </p:nvSpPr>
        <p:spPr>
          <a:xfrm>
            <a:off x="5505148" y="6451049"/>
            <a:ext cx="644525" cy="180340"/>
          </a:xfrm>
          <a:prstGeom prst="rect">
            <a:avLst/>
          </a:prstGeom>
        </p:spPr>
        <p:txBody>
          <a:bodyPr vert="horz" wrap="square" lIns="0" tIns="0" rIns="0" bIns="0" rtlCol="0">
            <a:spAutoFit/>
          </a:bodyPr>
          <a:lstStyle/>
          <a:p>
            <a:pPr marL="12700">
              <a:lnSpc>
                <a:spcPts val="1410"/>
              </a:lnSpc>
            </a:pPr>
            <a:r>
              <a:rPr spc="-25" dirty="0"/>
              <a:t>.</a:t>
            </a:r>
            <a:endParaRPr spc="-25" dirty="0"/>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4" name="Text Box 13"/>
          <p:cNvSpPr txBox="1"/>
          <p:nvPr/>
        </p:nvSpPr>
        <p:spPr>
          <a:xfrm>
            <a:off x="2276475" y="1102995"/>
            <a:ext cx="8405495" cy="838200"/>
          </a:xfrm>
          <a:prstGeom prst="rect">
            <a:avLst/>
          </a:prstGeom>
          <a:noFill/>
        </p:spPr>
        <p:txBody>
          <a:bodyPr wrap="square" rtlCol="0">
            <a:noAutofit/>
          </a:bodyPr>
          <a:p>
            <a:r>
              <a:rPr lang="en-IN" altLang="en-US" sz="2400">
                <a:solidFill>
                  <a:srgbClr val="FF0000"/>
                </a:solidFill>
              </a:rPr>
              <a:t>      </a:t>
            </a:r>
            <a:r>
              <a:rPr lang="en-US" altLang="en-US" sz="2400">
                <a:solidFill>
                  <a:srgbClr val="FF0000"/>
                </a:solidFill>
              </a:rPr>
              <a:t>XSFN-Net: A Hybrid Deep Spiking Fractional</a:t>
            </a:r>
            <a:r>
              <a:rPr lang="en-IN" altLang="en-US" sz="2400">
                <a:solidFill>
                  <a:srgbClr val="FF0000"/>
                </a:solidFill>
              </a:rPr>
              <a:t>  </a:t>
            </a:r>
            <a:r>
              <a:rPr lang="en-US" altLang="en-US" sz="2400">
                <a:solidFill>
                  <a:srgbClr val="FF0000"/>
                </a:solidFill>
              </a:rPr>
              <a:t>Neural</a:t>
            </a:r>
            <a:r>
              <a:rPr lang="en-IN" altLang="en-US" sz="2400">
                <a:solidFill>
                  <a:srgbClr val="FF0000"/>
                </a:solidFill>
              </a:rPr>
              <a:t> </a:t>
            </a:r>
            <a:r>
              <a:rPr lang="en-US" altLang="en-US" sz="2400">
                <a:solidFill>
                  <a:srgbClr val="FF0000"/>
                </a:solidFill>
              </a:rPr>
              <a:t>Network for OSCC Classification in</a:t>
            </a:r>
            <a:r>
              <a:rPr lang="en-IN" altLang="en-US" sz="2400">
                <a:solidFill>
                  <a:srgbClr val="FF0000"/>
                </a:solidFill>
              </a:rPr>
              <a:t> </a:t>
            </a:r>
            <a:r>
              <a:rPr lang="en-US" altLang="en-US" sz="2400">
                <a:solidFill>
                  <a:srgbClr val="FF0000"/>
                </a:solidFill>
              </a:rPr>
              <a:t>Histopathological Images</a:t>
            </a:r>
            <a:endParaRPr lang="en-US" altLang="en-US" sz="2400">
              <a:solidFill>
                <a:srgbClr val="FF0000"/>
              </a:solidFill>
            </a:endParaRPr>
          </a:p>
          <a:p>
            <a:endParaRPr lang="en-US" altLang="en-US" sz="240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9255" y="529843"/>
            <a:ext cx="2613025" cy="701040"/>
          </a:xfrm>
          <a:prstGeom prst="rect">
            <a:avLst/>
          </a:prstGeom>
        </p:spPr>
        <p:txBody>
          <a:bodyPr vert="horz" wrap="square" lIns="0" tIns="16510" rIns="0" bIns="0" rtlCol="0">
            <a:spAutoFit/>
          </a:bodyPr>
          <a:lstStyle/>
          <a:p>
            <a:pPr marL="12700">
              <a:lnSpc>
                <a:spcPct val="100000"/>
              </a:lnSpc>
              <a:spcBef>
                <a:spcPts val="130"/>
              </a:spcBef>
            </a:pPr>
            <a:r>
              <a:rPr spc="-10" dirty="0"/>
              <a:t>OUTLINE</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173924"/>
            <a:ext cx="3450590" cy="4508500"/>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1800" spc="-10" dirty="0">
                <a:latin typeface="Times New Roman" panose="02020603050405020304"/>
                <a:cs typeface="Times New Roman" panose="02020603050405020304"/>
              </a:rPr>
              <a:t>Abstract</a:t>
            </a:r>
            <a:endParaRPr sz="1800">
              <a:latin typeface="Times New Roman" panose="02020603050405020304"/>
              <a:cs typeface="Times New Roman" panose="02020603050405020304"/>
            </a:endParaRPr>
          </a:p>
          <a:p>
            <a:pPr marL="527050" indent="-514350">
              <a:lnSpc>
                <a:spcPct val="100000"/>
              </a:lnSpc>
              <a:spcBef>
                <a:spcPts val="390"/>
              </a:spcBef>
              <a:buAutoNum type="arabicPeriod"/>
              <a:tabLst>
                <a:tab pos="527050" algn="l"/>
              </a:tabLst>
            </a:pPr>
            <a:r>
              <a:rPr sz="1800" spc="-10" dirty="0">
                <a:latin typeface="Times New Roman" panose="02020603050405020304"/>
                <a:cs typeface="Times New Roman" panose="02020603050405020304"/>
              </a:rPr>
              <a:t>Introduction</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dirty="0">
                <a:latin typeface="Times New Roman" panose="02020603050405020304"/>
                <a:cs typeface="Times New Roman" panose="02020603050405020304"/>
              </a:rPr>
              <a:t>Literature</a:t>
            </a:r>
            <a:r>
              <a:rPr sz="1800" spc="-10" dirty="0">
                <a:latin typeface="Times New Roman" panose="02020603050405020304"/>
                <a:cs typeface="Times New Roman" panose="02020603050405020304"/>
              </a:rPr>
              <a:t> Survey</a:t>
            </a:r>
            <a:endParaRPr sz="1800">
              <a:latin typeface="Times New Roman" panose="02020603050405020304"/>
              <a:cs typeface="Times New Roman" panose="02020603050405020304"/>
            </a:endParaRPr>
          </a:p>
          <a:p>
            <a:pPr marL="527050" indent="-514350">
              <a:lnSpc>
                <a:spcPct val="100000"/>
              </a:lnSpc>
              <a:spcBef>
                <a:spcPts val="395"/>
              </a:spcBef>
              <a:buAutoNum type="arabicPeriod"/>
              <a:tabLst>
                <a:tab pos="527050" algn="l"/>
              </a:tabLst>
            </a:pPr>
            <a:r>
              <a:rPr sz="1800" dirty="0">
                <a:latin typeface="Times New Roman" panose="02020603050405020304"/>
                <a:cs typeface="Times New Roman" panose="02020603050405020304"/>
              </a:rPr>
              <a:t>Research</a:t>
            </a:r>
            <a:r>
              <a:rPr sz="1800" spc="-40"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Gaps</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dirty="0">
                <a:latin typeface="Times New Roman" panose="02020603050405020304"/>
                <a:cs typeface="Times New Roman" panose="02020603050405020304"/>
              </a:rPr>
              <a:t>Problem</a:t>
            </a:r>
            <a:r>
              <a:rPr sz="1800" spc="-5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Statement</a:t>
            </a:r>
            <a:endParaRPr sz="1800">
              <a:latin typeface="Times New Roman" panose="02020603050405020304"/>
              <a:cs typeface="Times New Roman" panose="02020603050405020304"/>
            </a:endParaRPr>
          </a:p>
          <a:p>
            <a:pPr marL="527050" indent="-514350">
              <a:lnSpc>
                <a:spcPct val="100000"/>
              </a:lnSpc>
              <a:spcBef>
                <a:spcPts val="390"/>
              </a:spcBef>
              <a:buAutoNum type="arabicPeriod"/>
              <a:tabLst>
                <a:tab pos="527050" algn="l"/>
              </a:tabLst>
            </a:pPr>
            <a:r>
              <a:rPr sz="1800" spc="-10" dirty="0">
                <a:latin typeface="Times New Roman" panose="02020603050405020304"/>
                <a:cs typeface="Times New Roman" panose="02020603050405020304"/>
              </a:rPr>
              <a:t>Objectives</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dirty="0">
                <a:latin typeface="Times New Roman" panose="02020603050405020304"/>
                <a:cs typeface="Times New Roman" panose="02020603050405020304"/>
              </a:rPr>
              <a:t>Block</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Diagram</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Flow</a:t>
            </a:r>
            <a:r>
              <a:rPr sz="1800" spc="-3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Diagram</a:t>
            </a:r>
            <a:endParaRPr sz="1800">
              <a:latin typeface="Times New Roman" panose="02020603050405020304"/>
              <a:cs typeface="Times New Roman" panose="02020603050405020304"/>
            </a:endParaRPr>
          </a:p>
          <a:p>
            <a:pPr marL="527050" indent="-514350">
              <a:lnSpc>
                <a:spcPct val="100000"/>
              </a:lnSpc>
              <a:spcBef>
                <a:spcPts val="390"/>
              </a:spcBef>
              <a:buAutoNum type="arabicPeriod"/>
              <a:tabLst>
                <a:tab pos="527050" algn="l"/>
              </a:tabLst>
            </a:pPr>
            <a:r>
              <a:rPr sz="1800" spc="-10" dirty="0">
                <a:latin typeface="Times New Roman" panose="02020603050405020304"/>
                <a:cs typeface="Times New Roman" panose="02020603050405020304"/>
              </a:rPr>
              <a:t>Methodology</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spc="-10" dirty="0">
                <a:latin typeface="Times New Roman" panose="02020603050405020304"/>
                <a:cs typeface="Times New Roman" panose="02020603050405020304"/>
              </a:rPr>
              <a:t>Implementation</a:t>
            </a:r>
            <a:endParaRPr sz="1800">
              <a:latin typeface="Times New Roman" panose="02020603050405020304"/>
              <a:cs typeface="Times New Roman" panose="02020603050405020304"/>
            </a:endParaRPr>
          </a:p>
          <a:p>
            <a:pPr marL="527050" indent="-514350">
              <a:lnSpc>
                <a:spcPct val="100000"/>
              </a:lnSpc>
              <a:spcBef>
                <a:spcPts val="395"/>
              </a:spcBef>
              <a:buAutoNum type="arabicPeriod"/>
              <a:tabLst>
                <a:tab pos="527050" algn="l"/>
              </a:tabLst>
            </a:pPr>
            <a:r>
              <a:rPr sz="1800" dirty="0">
                <a:latin typeface="Times New Roman" panose="02020603050405020304"/>
                <a:cs typeface="Times New Roman" panose="02020603050405020304"/>
              </a:rPr>
              <a:t>Results</a:t>
            </a:r>
            <a:r>
              <a:rPr sz="1800" spc="10"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and</a:t>
            </a:r>
            <a:r>
              <a:rPr sz="1800" spc="-9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Analysis</a:t>
            </a:r>
            <a:endParaRPr sz="1800">
              <a:latin typeface="Times New Roman" panose="02020603050405020304"/>
              <a:cs typeface="Times New Roman" panose="02020603050405020304"/>
            </a:endParaRPr>
          </a:p>
          <a:p>
            <a:pPr marL="527050" indent="-514350">
              <a:lnSpc>
                <a:spcPct val="100000"/>
              </a:lnSpc>
              <a:spcBef>
                <a:spcPts val="315"/>
              </a:spcBef>
              <a:buAutoNum type="arabicPeriod"/>
              <a:tabLst>
                <a:tab pos="527050" algn="l"/>
              </a:tabLst>
            </a:pPr>
            <a:r>
              <a:rPr sz="1800" dirty="0">
                <a:latin typeface="Times New Roman" panose="02020603050405020304"/>
                <a:cs typeface="Times New Roman" panose="02020603050405020304"/>
              </a:rPr>
              <a:t>Conclusion</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&amp;</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Future </a:t>
            </a:r>
            <a:r>
              <a:rPr sz="1800" spc="-20" dirty="0">
                <a:latin typeface="Times New Roman" panose="02020603050405020304"/>
                <a:cs typeface="Times New Roman" panose="02020603050405020304"/>
              </a:rPr>
              <a:t>Scope</a:t>
            </a:r>
            <a:endParaRPr sz="1800">
              <a:latin typeface="Times New Roman" panose="02020603050405020304"/>
              <a:cs typeface="Times New Roman" panose="02020603050405020304"/>
            </a:endParaRPr>
          </a:p>
          <a:p>
            <a:pPr marL="527050" indent="-514350">
              <a:lnSpc>
                <a:spcPct val="100000"/>
              </a:lnSpc>
              <a:spcBef>
                <a:spcPts val="400"/>
              </a:spcBef>
              <a:buAutoNum type="arabicPeriod"/>
              <a:tabLst>
                <a:tab pos="527050" algn="l"/>
              </a:tabLst>
            </a:pPr>
            <a:r>
              <a:rPr sz="1800" spc="-10" dirty="0">
                <a:latin typeface="Times New Roman" panose="02020603050405020304"/>
                <a:cs typeface="Times New Roman" panose="02020603050405020304"/>
              </a:rPr>
              <a:t>References</a:t>
            </a:r>
            <a:endParaRPr sz="1800">
              <a:latin typeface="Times New Roman" panose="02020603050405020304"/>
              <a:cs typeface="Times New Roman" panose="02020603050405020304"/>
            </a:endParaRPr>
          </a:p>
          <a:p>
            <a:pPr marL="527050" indent="-514350">
              <a:lnSpc>
                <a:spcPct val="100000"/>
              </a:lnSpc>
              <a:spcBef>
                <a:spcPts val="315"/>
              </a:spcBef>
              <a:buAutoNum type="arabicPeriod"/>
              <a:tabLst>
                <a:tab pos="527050" algn="l"/>
              </a:tabLst>
            </a:pPr>
            <a:r>
              <a:rPr sz="1800" dirty="0">
                <a:latin typeface="Times New Roman" panose="02020603050405020304"/>
                <a:cs typeface="Times New Roman" panose="02020603050405020304"/>
              </a:rPr>
              <a:t>Question </a:t>
            </a:r>
            <a:r>
              <a:rPr sz="1800" spc="-20" dirty="0">
                <a:latin typeface="Times New Roman" panose="02020603050405020304"/>
                <a:cs typeface="Times New Roman" panose="02020603050405020304"/>
              </a:rPr>
              <a:t>and</a:t>
            </a:r>
            <a:r>
              <a:rPr sz="1800" spc="-7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Answers</a:t>
            </a:r>
            <a:endParaRPr sz="1800">
              <a:latin typeface="Times New Roman" panose="02020603050405020304"/>
              <a:cs typeface="Times New Roman" panose="02020603050405020304"/>
            </a:endParaRPr>
          </a:p>
          <a:p>
            <a:pPr marL="527050" indent="-514350">
              <a:lnSpc>
                <a:spcPct val="100000"/>
              </a:lnSpc>
              <a:spcBef>
                <a:spcPts val="395"/>
              </a:spcBef>
              <a:buAutoNum type="arabicPeriod"/>
              <a:tabLst>
                <a:tab pos="527050" algn="l"/>
              </a:tabLst>
            </a:pPr>
            <a:r>
              <a:rPr sz="1800" spc="-10" dirty="0">
                <a:latin typeface="Times New Roman" panose="02020603050405020304"/>
                <a:cs typeface="Times New Roman" panose="02020603050405020304"/>
              </a:rPr>
              <a:t>Acknowledgements</a:t>
            </a:r>
            <a:endParaRPr sz="180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703320">
              <a:lnSpc>
                <a:spcPct val="100000"/>
              </a:lnSpc>
              <a:spcBef>
                <a:spcPts val="130"/>
              </a:spcBef>
            </a:pPr>
            <a:r>
              <a:rPr spc="-10" dirty="0"/>
              <a:t>ABSTRACT</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22" name="TextBox 21"/>
          <p:cNvSpPr txBox="1"/>
          <p:nvPr/>
        </p:nvSpPr>
        <p:spPr>
          <a:xfrm>
            <a:off x="762000" y="1539240"/>
            <a:ext cx="10384790" cy="4373245"/>
          </a:xfrm>
          <a:prstGeom prst="rect">
            <a:avLst/>
          </a:prstGeom>
          <a:noFill/>
        </p:spPr>
        <p:txBody>
          <a:bodyPr wrap="square">
            <a:noAutofit/>
          </a:bodyPr>
          <a:lstStyle/>
          <a:p>
            <a:pPr marL="0" indent="0" algn="just">
              <a:buFont typeface="Arial" panose="020B0604020202020204" pitchFamily="34" charset="0"/>
              <a:buNone/>
            </a:pPr>
            <a:r>
              <a:rPr lang="en-US" altLang="en-US" sz="2800" dirty="0">
                <a:latin typeface="Times New Roman" panose="02020603050405020304" charset="0"/>
                <a:cs typeface="Times New Roman" panose="02020603050405020304" charset="0"/>
              </a:rPr>
              <a:t>Oral Squamous Cell Carcinoma (OSCC) is one ofthe most Prevalent forms of oral cancer, commonly associated to</a:t>
            </a:r>
            <a:r>
              <a:rPr lang="en-IN" altLang="en-US" sz="2800"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risk factors like tobacco use, alcohol use, chewing betelnut and viral infections. Early diagnosis and treatment of OSCC and other</a:t>
            </a:r>
            <a:r>
              <a:rPr lang="en-IN" altLang="en-US" sz="2800"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oral mucosal potentially malignant lesions is the clinician’s best</a:t>
            </a:r>
            <a:r>
              <a:rPr lang="en-IN" altLang="en-US" sz="2800"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bet to improve prognosis .In this research paper, we propose the</a:t>
            </a:r>
            <a:r>
              <a:rPr lang="en-IN" altLang="en-US" sz="2800"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new Deep Learning model of Xception spiking Fractional Neural</a:t>
            </a:r>
            <a:r>
              <a:rPr lang="en-IN" altLang="en-US" sz="2800"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Network (XSFN-NET) to different OSCC of the histopathology.The features are the combined using Fractional Calculus(FC) and classified by a Deep Spiking Neural Network (DSNN)</a:t>
            </a:r>
            <a:r>
              <a:rPr lang="en-IN" altLang="en-US" sz="2800"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to make efficient and biologically inspired decisions.</a:t>
            </a:r>
            <a:endParaRPr lang="en-US" altLang="en-US" sz="2800" dirty="0">
              <a:latin typeface="Times New Roman" panose="02020603050405020304" charset="0"/>
              <a:cs typeface="Times New Roman" panose="02020603050405020304" charset="0"/>
            </a:endParaRPr>
          </a:p>
          <a:p>
            <a:pPr marL="0" indent="0" algn="just">
              <a:buFont typeface="Arial" panose="020B0604020202020204" pitchFamily="34" charset="0"/>
              <a:buNone/>
            </a:pPr>
            <a:endParaRPr lang="en-US" sz="2800" dirty="0">
              <a:latin typeface="Times New Roman" panose="02020603050405020304" charset="0"/>
              <a:cs typeface="Times New Roman" panose="02020603050405020304" charset="0"/>
            </a:endParaRPr>
          </a:p>
          <a:p>
            <a:pPr marL="0" indent="0">
              <a:buFont typeface="Arial" panose="020B0604020202020204" pitchFamily="34" charset="0"/>
              <a:buNone/>
            </a:pPr>
            <a:endParaRPr lang="en-IN" sz="2400"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210" y="527050"/>
            <a:ext cx="10100945" cy="956310"/>
          </a:xfrm>
          <a:prstGeom prst="rect">
            <a:avLst/>
          </a:prstGeom>
        </p:spPr>
        <p:txBody>
          <a:bodyPr vert="horz" wrap="square" lIns="0" tIns="262889" rIns="0" bIns="0" rtlCol="0">
            <a:noAutofit/>
          </a:bodyPr>
          <a:lstStyle/>
          <a:p>
            <a:pPr marL="2989580">
              <a:lnSpc>
                <a:spcPct val="100000"/>
              </a:lnSpc>
              <a:spcBef>
                <a:spcPts val="130"/>
              </a:spcBef>
            </a:pPr>
            <a:r>
              <a:rPr spc="-10" dirty="0"/>
              <a:t>INTRODUCTION</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0" name="TextBox 9"/>
          <p:cNvSpPr txBox="1"/>
          <p:nvPr/>
        </p:nvSpPr>
        <p:spPr>
          <a:xfrm>
            <a:off x="838200" y="1720850"/>
            <a:ext cx="10668000" cy="4377055"/>
          </a:xfrm>
          <a:prstGeom prst="rect">
            <a:avLst/>
          </a:prstGeom>
          <a:noFill/>
        </p:spPr>
        <p:txBody>
          <a:bodyPr wrap="square">
            <a:noAutofit/>
          </a:bodyPr>
          <a:lstStyle/>
          <a:p>
            <a:pPr marL="342900" indent="-342900">
              <a:buFont typeface="Arial" panose="020B0604020202020204" pitchFamily="34" charset="0"/>
              <a:buChar char="•"/>
            </a:pPr>
            <a:r>
              <a:rPr lang="en-US" altLang="en-US" sz="2400" dirty="0">
                <a:latin typeface="Times New Roman" panose="02020603050405020304" charset="0"/>
                <a:cs typeface="Times New Roman" panose="02020603050405020304" charset="0"/>
              </a:rPr>
              <a:t>Oral Squamous Cell Carcinoma (OSCC) is one of the most common and aggressive forms of oral cancer.</a:t>
            </a:r>
            <a:endParaRPr lang="en-US" alt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dirty="0">
                <a:latin typeface="Times New Roman" panose="02020603050405020304" charset="0"/>
                <a:cs typeface="Times New Roman" panose="02020603050405020304" charset="0"/>
              </a:rPr>
              <a:t>Early and accurate diagnosis is crucial for improving patient survival rates.</a:t>
            </a:r>
            <a:endParaRPr lang="en-US" alt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dirty="0">
                <a:latin typeface="Times New Roman" panose="02020603050405020304" charset="0"/>
                <a:cs typeface="Times New Roman" panose="02020603050405020304" charset="0"/>
              </a:rPr>
              <a:t>Histopathological image analysis is the gold standard for OSCC detection, but manual interpretation is time-consuming and subjective.</a:t>
            </a:r>
            <a:endParaRPr lang="en-US" alt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dirty="0">
                <a:latin typeface="Times New Roman" panose="02020603050405020304" charset="0"/>
                <a:cs typeface="Times New Roman" panose="02020603050405020304" charset="0"/>
              </a:rPr>
              <a:t>Deep learning has shown promising results in medical image classification, offering automated and precise detection.</a:t>
            </a:r>
            <a:endParaRPr lang="en-US" alt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dirty="0">
                <a:latin typeface="Times New Roman" panose="02020603050405020304" charset="0"/>
                <a:cs typeface="Times New Roman" panose="02020603050405020304" charset="0"/>
              </a:rPr>
              <a:t>To address these limitations, XSFN-Net integrates Spiking Neural Networks (SNNs) and Fractional Neural Networks (FNNs) to enhance feature learning and efficiency.</a:t>
            </a:r>
            <a:endParaRPr lang="en-US" alt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US" sz="2400" dirty="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45210" y="736600"/>
            <a:ext cx="10100945" cy="746760"/>
          </a:xfrm>
        </p:spPr>
        <p:txBody>
          <a:bodyPr>
            <a:noAutofit/>
          </a:bodyPr>
          <a:p>
            <a:r>
              <a:rPr lang="en-IN" altLang="en-US"/>
              <a:t>                      MOTIVATION</a:t>
            </a:r>
            <a:endParaRPr lang="en-IN" altLang="en-US"/>
          </a:p>
        </p:txBody>
      </p:sp>
      <p:sp>
        <p:nvSpPr>
          <p:cNvPr id="3" name="Text Placeholder 2"/>
          <p:cNvSpPr>
            <a:spLocks noGrp="1"/>
          </p:cNvSpPr>
          <p:nvPr>
            <p:ph type="body" idx="1"/>
          </p:nvPr>
        </p:nvSpPr>
        <p:spPr>
          <a:xfrm>
            <a:off x="871220" y="1664970"/>
            <a:ext cx="10274935" cy="4556760"/>
          </a:xfrm>
        </p:spPr>
        <p:txBody>
          <a:bodyPr wrap="square">
            <a:noAutofit/>
          </a:bodyPr>
          <a:p>
            <a:pPr marL="457200" indent="-457200">
              <a:buFont typeface="Arial" panose="020B0604020202020204" pitchFamily="34" charset="0"/>
              <a:buChar char="•"/>
            </a:pPr>
            <a:r>
              <a:rPr lang="en-US" altLang="en-US" sz="2400"/>
              <a:t>Manual examination of histopathological slides is time-consuming and prone to human error.</a:t>
            </a:r>
            <a:endParaRPr lang="en-US" altLang="en-US" sz="2400"/>
          </a:p>
          <a:p>
            <a:pPr marL="457200" indent="-457200">
              <a:buFont typeface="Arial" panose="020B0604020202020204" pitchFamily="34" charset="0"/>
              <a:buChar char="•"/>
            </a:pPr>
            <a:r>
              <a:rPr lang="en-US" altLang="en-US" sz="2400"/>
              <a:t>Spiking Neural Networks (SNNs) offer energy-efficient, brain-inspired computation suitable for medical imaging.</a:t>
            </a:r>
            <a:endParaRPr lang="en-US" altLang="en-US" sz="2400"/>
          </a:p>
          <a:p>
            <a:pPr marL="457200" indent="-457200">
              <a:buFont typeface="Arial" panose="020B0604020202020204" pitchFamily="34" charset="0"/>
              <a:buChar char="•"/>
            </a:pPr>
            <a:r>
              <a:rPr lang="en-US" altLang="en-US" sz="2400"/>
              <a:t>Traditional deep learning models require large computational resources and extensive data.</a:t>
            </a:r>
            <a:endParaRPr lang="en-US" altLang="en-US" sz="2400"/>
          </a:p>
          <a:p>
            <a:pPr marL="457200" indent="-457200">
              <a:buFont typeface="Arial" panose="020B0604020202020204" pitchFamily="34" charset="0"/>
              <a:buChar char="•"/>
            </a:pPr>
            <a:r>
              <a:rPr lang="en-US" altLang="en-US" sz="2400"/>
              <a:t>A hybrid model combining deep, spiking, and fractional learning can achieve better accuracy and generalization.</a:t>
            </a:r>
            <a:endParaRPr lang="en-US" altLang="en-US" sz="2400"/>
          </a:p>
          <a:p>
            <a:pPr marL="457200" indent="-457200">
              <a:buFont typeface="Arial" panose="020B0604020202020204" pitchFamily="34" charset="0"/>
              <a:buChar char="•"/>
            </a:pPr>
            <a:r>
              <a:rPr lang="en-US" altLang="en-US" sz="2400"/>
              <a:t>There is a need for robust, interpretable, and computationally efficient models in cancer diagnosis.</a:t>
            </a:r>
            <a:endParaRPr lang="en-US" altLang="en-US" sz="2400"/>
          </a:p>
          <a:p>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0120" y="511810"/>
            <a:ext cx="5544820" cy="403860"/>
          </a:xfrm>
          <a:prstGeom prst="rect">
            <a:avLst/>
          </a:prstGeom>
        </p:spPr>
        <p:txBody>
          <a:bodyPr vert="horz" wrap="square" lIns="0" tIns="16510" rIns="0" bIns="0" rtlCol="0">
            <a:noAutofit/>
          </a:bodyPr>
          <a:lstStyle/>
          <a:p>
            <a:pPr marL="12700">
              <a:lnSpc>
                <a:spcPct val="100000"/>
              </a:lnSpc>
              <a:spcBef>
                <a:spcPts val="130"/>
              </a:spcBef>
            </a:pPr>
            <a:r>
              <a:rPr sz="3950" dirty="0"/>
              <a:t>LITERATURE</a:t>
            </a:r>
            <a:r>
              <a:rPr sz="3950" spc="-185" dirty="0"/>
              <a:t> </a:t>
            </a:r>
            <a:r>
              <a:rPr sz="3950" spc="-10" dirty="0"/>
              <a:t>SURVEY</a:t>
            </a:r>
            <a:endParaRPr sz="395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graphicFrame>
        <p:nvGraphicFramePr>
          <p:cNvPr id="3" name="object 3"/>
          <p:cNvGraphicFramePr>
            <a:graphicFrameLocks noGrp="1"/>
          </p:cNvGraphicFramePr>
          <p:nvPr>
            <p:custDataLst>
              <p:tags r:id="rId1"/>
            </p:custDataLst>
          </p:nvPr>
        </p:nvGraphicFramePr>
        <p:xfrm>
          <a:off x="679450" y="1092200"/>
          <a:ext cx="10822940" cy="4887595"/>
        </p:xfrm>
        <a:graphic>
          <a:graphicData uri="http://schemas.openxmlformats.org/drawingml/2006/table">
            <a:tbl>
              <a:tblPr firstRow="1" bandRow="1">
                <a:tableStyleId>{2D5ABB26-0587-4C30-8999-92F81FD0307C}</a:tableStyleId>
              </a:tblPr>
              <a:tblGrid>
                <a:gridCol w="615950"/>
                <a:gridCol w="1936115"/>
                <a:gridCol w="1619885"/>
                <a:gridCol w="1671320"/>
                <a:gridCol w="1887220"/>
                <a:gridCol w="1546225"/>
                <a:gridCol w="1546225"/>
              </a:tblGrid>
              <a:tr h="736600">
                <a:tc>
                  <a:txBody>
                    <a:bodyPr/>
                    <a:lstStyle/>
                    <a:p>
                      <a:pPr marL="182880">
                        <a:lnSpc>
                          <a:spcPct val="100000"/>
                        </a:lnSpc>
                        <a:spcBef>
                          <a:spcPts val="325"/>
                        </a:spcBef>
                      </a:pPr>
                      <a:r>
                        <a:rPr lang="en-IN" sz="1550" b="1" spc="-25" dirty="0">
                          <a:latin typeface="Calibri" panose="020F0502020204030204"/>
                          <a:cs typeface="Calibri" panose="020F0502020204030204"/>
                        </a:rPr>
                        <a:t>No</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550" b="1" spc="-10" dirty="0">
                          <a:latin typeface="Calibri" panose="020F0502020204030204"/>
                          <a:cs typeface="Calibri" panose="020F0502020204030204"/>
                        </a:rPr>
                        <a:t>Title</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5">
                        <a:lnSpc>
                          <a:spcPct val="100000"/>
                        </a:lnSpc>
                        <a:spcBef>
                          <a:spcPts val="325"/>
                        </a:spcBef>
                      </a:pPr>
                      <a:r>
                        <a:rPr sz="1550" b="1" spc="-10" dirty="0">
                          <a:latin typeface="Calibri" panose="020F0502020204030204"/>
                          <a:cs typeface="Calibri" panose="020F0502020204030204"/>
                        </a:rPr>
                        <a:t>Author</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5000"/>
                        </a:lnSpc>
                        <a:spcBef>
                          <a:spcPts val="230"/>
                        </a:spcBef>
                      </a:pPr>
                      <a:r>
                        <a:rPr sz="1550" b="1" dirty="0">
                          <a:latin typeface="Calibri" panose="020F0502020204030204"/>
                          <a:cs typeface="Calibri" panose="020F0502020204030204"/>
                        </a:rPr>
                        <a:t>Journal</a:t>
                      </a:r>
                      <a:r>
                        <a:rPr sz="1550" b="1" spc="130" dirty="0">
                          <a:latin typeface="Calibri" panose="020F0502020204030204"/>
                          <a:cs typeface="Calibri" panose="020F0502020204030204"/>
                        </a:rPr>
                        <a:t> </a:t>
                      </a:r>
                      <a:r>
                        <a:rPr sz="1550" b="1" dirty="0">
                          <a:latin typeface="Calibri" panose="020F0502020204030204"/>
                          <a:cs typeface="Calibri" panose="020F0502020204030204"/>
                        </a:rPr>
                        <a:t>Name</a:t>
                      </a:r>
                      <a:r>
                        <a:rPr sz="1550" b="1" spc="90" dirty="0">
                          <a:latin typeface="Calibri" panose="020F0502020204030204"/>
                          <a:cs typeface="Calibri" panose="020F0502020204030204"/>
                        </a:rPr>
                        <a:t> </a:t>
                      </a:r>
                      <a:r>
                        <a:rPr sz="1550" b="1" spc="-50" dirty="0">
                          <a:latin typeface="Calibri" panose="020F0502020204030204"/>
                          <a:cs typeface="Calibri" panose="020F0502020204030204"/>
                        </a:rPr>
                        <a:t>&amp; </a:t>
                      </a:r>
                      <a:r>
                        <a:rPr sz="1550" b="1" spc="-20" dirty="0">
                          <a:latin typeface="Calibri" panose="020F0502020204030204"/>
                          <a:cs typeface="Calibri" panose="020F0502020204030204"/>
                        </a:rPr>
                        <a:t>Year</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5000"/>
                        </a:lnSpc>
                        <a:spcBef>
                          <a:spcPts val="230"/>
                        </a:spcBef>
                      </a:pPr>
                      <a:r>
                        <a:rPr sz="1550" b="1" spc="-10" dirty="0">
                          <a:latin typeface="Calibri" panose="020F0502020204030204"/>
                          <a:cs typeface="Calibri" panose="020F0502020204030204"/>
                        </a:rPr>
                        <a:t>Methodology Adapted</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550" b="1" dirty="0">
                          <a:latin typeface="Calibri" panose="020F0502020204030204"/>
                          <a:cs typeface="Calibri" panose="020F0502020204030204"/>
                        </a:rPr>
                        <a:t>Key</a:t>
                      </a:r>
                      <a:r>
                        <a:rPr sz="1550" b="1" spc="45" dirty="0">
                          <a:latin typeface="Calibri" panose="020F0502020204030204"/>
                          <a:cs typeface="Calibri" panose="020F0502020204030204"/>
                        </a:rPr>
                        <a:t> </a:t>
                      </a:r>
                      <a:r>
                        <a:rPr sz="1550" b="1" spc="-10" dirty="0">
                          <a:latin typeface="Calibri" panose="020F0502020204030204"/>
                          <a:cs typeface="Calibri" panose="020F0502020204030204"/>
                        </a:rPr>
                        <a:t>Findings</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550" b="1" spc="-20" dirty="0">
                          <a:latin typeface="Calibri" panose="020F0502020204030204"/>
                          <a:cs typeface="Calibri" panose="020F0502020204030204"/>
                        </a:rPr>
                        <a:t>Gaps</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r>
              <a:tr h="1590675">
                <a:tc>
                  <a:txBody>
                    <a:bodyPr/>
                    <a:lstStyle/>
                    <a:p>
                      <a:pPr marL="92075">
                        <a:lnSpc>
                          <a:spcPct val="100000"/>
                        </a:lnSpc>
                        <a:spcBef>
                          <a:spcPts val="255"/>
                        </a:spcBef>
                      </a:pPr>
                      <a:r>
                        <a:rPr sz="1400" spc="-50" dirty="0">
                          <a:latin typeface="Calibri" panose="020F0502020204030204"/>
                          <a:cs typeface="Calibri" panose="020F0502020204030204"/>
                        </a:rPr>
                        <a:t>1</a:t>
                      </a:r>
                      <a:endParaRPr sz="1400" dirty="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55"/>
                        </a:spcBef>
                      </a:pPr>
                      <a:r>
                        <a:rPr lang="en-US" altLang="en-US" sz="1400" dirty="0">
                          <a:latin typeface="Times New Roman" panose="02020603050405020304" charset="0"/>
                          <a:cs typeface="Times New Roman" panose="02020603050405020304" charset="0"/>
                        </a:rPr>
                        <a:t>Xception Spiking Fractional Neural Network for</a:t>
                      </a:r>
                      <a:endParaRPr lang="en-US" altLang="en-US" sz="1400" dirty="0">
                        <a:latin typeface="Times New Roman" panose="02020603050405020304" charset="0"/>
                        <a:cs typeface="Times New Roman" panose="02020603050405020304" charset="0"/>
                      </a:endParaRPr>
                    </a:p>
                    <a:p>
                      <a:pPr marL="92075">
                        <a:lnSpc>
                          <a:spcPct val="100000"/>
                        </a:lnSpc>
                        <a:spcBef>
                          <a:spcPts val="255"/>
                        </a:spcBef>
                      </a:pPr>
                      <a:r>
                        <a:rPr lang="en-US" altLang="en-US" sz="1400" dirty="0">
                          <a:latin typeface="Times New Roman" panose="02020603050405020304" charset="0"/>
                          <a:cs typeface="Times New Roman" panose="02020603050405020304" charset="0"/>
                        </a:rPr>
                        <a:t>Oral Squamous Cell Carcinoma Classification</a:t>
                      </a:r>
                      <a:endParaRPr lang="en-US" altLang="en-US" sz="1400" dirty="0">
                        <a:latin typeface="Times New Roman" panose="02020603050405020304" charset="0"/>
                        <a:cs typeface="Times New Roman" panose="02020603050405020304" charset="0"/>
                      </a:endParaRPr>
                    </a:p>
                    <a:p>
                      <a:pPr marL="92075">
                        <a:lnSpc>
                          <a:spcPct val="100000"/>
                        </a:lnSpc>
                        <a:spcBef>
                          <a:spcPts val="255"/>
                        </a:spcBef>
                      </a:pPr>
                      <a:r>
                        <a:rPr lang="en-US" altLang="en-US" sz="1400" dirty="0">
                          <a:latin typeface="Times New Roman" panose="02020603050405020304" charset="0"/>
                          <a:cs typeface="Times New Roman" panose="02020603050405020304" charset="0"/>
                        </a:rPr>
                        <a:t>Based on Histopathological Images</a:t>
                      </a:r>
                      <a:endParaRPr lang="en-US" altLang="en-US" sz="1400" dirty="0">
                        <a:latin typeface="Times New Roman" panose="02020603050405020304" charset="0"/>
                        <a:cs typeface="Times New Roman" panose="02020603050405020304" charset="0"/>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singaraju Ramya; R.I.Minus;</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K.T.Magesh</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nSpc>
                          <a:spcPct val="100000"/>
                        </a:lnSpc>
                        <a:spcBef>
                          <a:spcPts val="255"/>
                        </a:spcBef>
                      </a:pPr>
                      <a:r>
                        <a:rPr lang="en-US" altLang="en-US" sz="1400" dirty="0">
                          <a:latin typeface="Calibri" panose="020F0502020204030204"/>
                          <a:cs typeface="Calibri" panose="020F0502020204030204"/>
                          <a:hlinkClick r:id="rId2" action="ppaction://hlinkfile"/>
                        </a:rPr>
                        <a:t>https://ieeexplore.ieee.org/document/11016737</a:t>
                      </a:r>
                      <a:endParaRPr lang="en-US" altLang="en-US" sz="1400" dirty="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Image Enhancement using the Medav Filter,Pixel-wiseSegmentationPraNet,Data Augmentation,Image Normalization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This model effectively integrates multiple advanced components to enhance diagnostic accuracy.</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the model is limited to binary classification  and does not handle stage-wise OSCC classification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280160">
                <a:tc>
                  <a:txBody>
                    <a:bodyPr/>
                    <a:lstStyle/>
                    <a:p>
                      <a:pPr marL="92075">
                        <a:lnSpc>
                          <a:spcPct val="100000"/>
                        </a:lnSpc>
                        <a:spcBef>
                          <a:spcPts val="265"/>
                        </a:spcBef>
                      </a:pPr>
                      <a:r>
                        <a:rPr sz="1400" spc="-50" dirty="0">
                          <a:latin typeface="Calibri" panose="020F0502020204030204"/>
                          <a:cs typeface="Calibri" panose="020F0502020204030204"/>
                        </a:rPr>
                        <a:t>2</a:t>
                      </a:r>
                      <a:endParaRPr sz="1400">
                        <a:latin typeface="Calibri" panose="020F0502020204030204"/>
                        <a:cs typeface="Calibri" panose="020F0502020204030204"/>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Multimodal Deep Convolutional Neural Network</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Pipeline for AI-Assisted Early Detection</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of Oral Cancer</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panose="02020603050405020304"/>
                          <a:cs typeface="Times New Roman" panose="02020603050405020304"/>
                        </a:rPr>
                        <a:t> </a:t>
                      </a:r>
                      <a:r>
                        <a:rPr lang="en-US" altLang="en-US" sz="1400" dirty="0">
                          <a:latin typeface="Times New Roman" panose="02020603050405020304"/>
                          <a:cs typeface="Times New Roman" panose="02020603050405020304"/>
                        </a:rPr>
                        <a:t>G. A. I. Devindi, D. M. D. R. Dissanayake, S. N. Liyanage, F. B. A. H. Francis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IN"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hlinkClick r:id="rId3" action="ppaction://hlinkfile"/>
                        </a:rPr>
                        <a:t>https://ieeexplore.ieee.org/document/10664507</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Image Preprocessing,Metadata Preprocessing,Data Imbalance Handling</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First study to use early fusion of metadata and image features for oral cancer detection.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Lack of Advanced Clinical Features,Limited Dataset,No Lesion Localization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280160">
                <a:tc>
                  <a:txBody>
                    <a:bodyPr/>
                    <a:lstStyle/>
                    <a:p>
                      <a:pPr marL="92075">
                        <a:lnSpc>
                          <a:spcPct val="100000"/>
                        </a:lnSpc>
                        <a:spcBef>
                          <a:spcPts val="275"/>
                        </a:spcBef>
                      </a:pPr>
                      <a:r>
                        <a:rPr sz="1400" spc="-50" dirty="0">
                          <a:latin typeface="Calibri" panose="020F0502020204030204"/>
                          <a:cs typeface="Calibri" panose="020F0502020204030204"/>
                        </a:rPr>
                        <a:t>3</a:t>
                      </a:r>
                      <a:endParaRPr sz="1400">
                        <a:latin typeface="Calibri" panose="020F0502020204030204"/>
                        <a:cs typeface="Calibri" panose="020F0502020204030204"/>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An Ensemble Deep Learning Model for Oral</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Squamous Cell Carcinoma Detection Using</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Histopathological Image Analysis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Madhusmita Das,Rasmita Dash,Sambit Kumar Mishra ,Asish Kumar Dalai</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IN"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hlinkClick r:id="rId4" action="ppaction://hlinkfile"/>
                        </a:rPr>
                        <a:t>https://ieeexplore.ieee.org/document/10649563</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panose="02020603050405020304"/>
                          <a:cs typeface="Times New Roman" panose="02020603050405020304"/>
                        </a:rPr>
                        <a:t> </a:t>
                      </a:r>
                      <a:r>
                        <a:rPr lang="en-US" altLang="en-US" sz="1400" dirty="0">
                          <a:latin typeface="Times New Roman" panose="02020603050405020304"/>
                          <a:cs typeface="Times New Roman" panose="02020603050405020304"/>
                        </a:rPr>
                        <a:t>Image Resizing,Enhancement Filters,Image Augmentation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400" dirty="0">
                          <a:latin typeface="Times New Roman" panose="02020603050405020304"/>
                          <a:cs typeface="Times New Roman" panose="02020603050405020304"/>
                        </a:rPr>
                        <a:t>.</a:t>
                      </a:r>
                      <a:r>
                        <a:rPr lang="en-US" altLang="en-US" sz="1400" dirty="0">
                          <a:latin typeface="Times New Roman" panose="02020603050405020304"/>
                          <a:cs typeface="Times New Roman" panose="02020603050405020304"/>
                        </a:rPr>
                        <a:t>Proposed a two-phase ensemble model for OSCC detection using histopathology images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No Lesion Segmentation ,Binary Classification Only,No Explainability Tools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Grp="1"/>
          </p:cNvGraphicFramePr>
          <p:nvPr/>
        </p:nvGraphicFramePr>
        <p:xfrm>
          <a:off x="679450" y="1052194"/>
          <a:ext cx="10822939" cy="3336926"/>
        </p:xfrm>
        <a:graphic>
          <a:graphicData uri="http://schemas.openxmlformats.org/drawingml/2006/table">
            <a:tbl>
              <a:tblPr firstRow="1" bandRow="1">
                <a:tableStyleId>{2D5ABB26-0587-4C30-8999-92F81FD0307C}</a:tableStyleId>
              </a:tblPr>
              <a:tblGrid>
                <a:gridCol w="615950"/>
                <a:gridCol w="1936115"/>
                <a:gridCol w="1619884"/>
                <a:gridCol w="1671320"/>
                <a:gridCol w="1887220"/>
                <a:gridCol w="1546225"/>
                <a:gridCol w="1546225"/>
              </a:tblGrid>
              <a:tr h="776606">
                <a:tc>
                  <a:txBody>
                    <a:bodyPr/>
                    <a:lstStyle/>
                    <a:p>
                      <a:pPr marL="182880">
                        <a:lnSpc>
                          <a:spcPct val="100000"/>
                        </a:lnSpc>
                        <a:spcBef>
                          <a:spcPts val="325"/>
                        </a:spcBef>
                      </a:pPr>
                      <a:r>
                        <a:rPr lang="en-IN" sz="1550" b="1" spc="-25" dirty="0">
                          <a:latin typeface="Calibri" panose="020F0502020204030204"/>
                          <a:cs typeface="Calibri" panose="020F0502020204030204"/>
                        </a:rPr>
                        <a:t>No</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550" b="1" spc="-10" dirty="0">
                          <a:latin typeface="Calibri" panose="020F0502020204030204"/>
                          <a:cs typeface="Calibri" panose="020F0502020204030204"/>
                        </a:rPr>
                        <a:t>Title</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5">
                        <a:lnSpc>
                          <a:spcPct val="100000"/>
                        </a:lnSpc>
                        <a:spcBef>
                          <a:spcPts val="325"/>
                        </a:spcBef>
                      </a:pPr>
                      <a:r>
                        <a:rPr sz="1550" b="1" spc="-10" dirty="0">
                          <a:latin typeface="Calibri" panose="020F0502020204030204"/>
                          <a:cs typeface="Calibri" panose="020F0502020204030204"/>
                        </a:rPr>
                        <a:t>Author</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5000"/>
                        </a:lnSpc>
                        <a:spcBef>
                          <a:spcPts val="230"/>
                        </a:spcBef>
                      </a:pPr>
                      <a:r>
                        <a:rPr sz="1550" b="1" dirty="0">
                          <a:latin typeface="Calibri" panose="020F0502020204030204"/>
                          <a:cs typeface="Calibri" panose="020F0502020204030204"/>
                        </a:rPr>
                        <a:t>Journal</a:t>
                      </a:r>
                      <a:r>
                        <a:rPr sz="1550" b="1" spc="130" dirty="0">
                          <a:latin typeface="Calibri" panose="020F0502020204030204"/>
                          <a:cs typeface="Calibri" panose="020F0502020204030204"/>
                        </a:rPr>
                        <a:t> </a:t>
                      </a:r>
                      <a:r>
                        <a:rPr sz="1550" b="1" dirty="0">
                          <a:latin typeface="Calibri" panose="020F0502020204030204"/>
                          <a:cs typeface="Calibri" panose="020F0502020204030204"/>
                        </a:rPr>
                        <a:t>Name</a:t>
                      </a:r>
                      <a:r>
                        <a:rPr sz="1550" b="1" spc="90" dirty="0">
                          <a:latin typeface="Calibri" panose="020F0502020204030204"/>
                          <a:cs typeface="Calibri" panose="020F0502020204030204"/>
                        </a:rPr>
                        <a:t> </a:t>
                      </a:r>
                      <a:r>
                        <a:rPr sz="1550" b="1" spc="-50" dirty="0">
                          <a:latin typeface="Calibri" panose="020F0502020204030204"/>
                          <a:cs typeface="Calibri" panose="020F0502020204030204"/>
                        </a:rPr>
                        <a:t>&amp; </a:t>
                      </a:r>
                      <a:r>
                        <a:rPr sz="1550" b="1" spc="-20" dirty="0">
                          <a:latin typeface="Calibri" panose="020F0502020204030204"/>
                          <a:cs typeface="Calibri" panose="020F0502020204030204"/>
                        </a:rPr>
                        <a:t>Year</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5000"/>
                        </a:lnSpc>
                        <a:spcBef>
                          <a:spcPts val="230"/>
                        </a:spcBef>
                      </a:pPr>
                      <a:r>
                        <a:rPr sz="1550" b="1" spc="-10" dirty="0">
                          <a:latin typeface="Calibri" panose="020F0502020204030204"/>
                          <a:cs typeface="Calibri" panose="020F0502020204030204"/>
                        </a:rPr>
                        <a:t>Methodology Adapted</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550" b="1" dirty="0">
                          <a:latin typeface="Calibri" panose="020F0502020204030204"/>
                          <a:cs typeface="Calibri" panose="020F0502020204030204"/>
                        </a:rPr>
                        <a:t>Key</a:t>
                      </a:r>
                      <a:r>
                        <a:rPr sz="1550" b="1" spc="45" dirty="0">
                          <a:latin typeface="Calibri" panose="020F0502020204030204"/>
                          <a:cs typeface="Calibri" panose="020F0502020204030204"/>
                        </a:rPr>
                        <a:t> </a:t>
                      </a:r>
                      <a:r>
                        <a:rPr sz="1550" b="1" spc="-10" dirty="0">
                          <a:latin typeface="Calibri" panose="020F0502020204030204"/>
                          <a:cs typeface="Calibri" panose="020F0502020204030204"/>
                        </a:rPr>
                        <a:t>Findings</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550" b="1" spc="-20" dirty="0">
                          <a:latin typeface="Calibri" panose="020F0502020204030204"/>
                          <a:cs typeface="Calibri" panose="020F0502020204030204"/>
                        </a:rPr>
                        <a:t>Gaps</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r>
              <a:tr h="894080">
                <a:tc>
                  <a:txBody>
                    <a:bodyPr/>
                    <a:lstStyle/>
                    <a:p>
                      <a:pPr marL="92075">
                        <a:lnSpc>
                          <a:spcPct val="100000"/>
                        </a:lnSpc>
                        <a:spcBef>
                          <a:spcPts val="285"/>
                        </a:spcBef>
                      </a:pPr>
                      <a:r>
                        <a:rPr sz="1400" spc="-50" dirty="0">
                          <a:latin typeface="Calibri" panose="020F0502020204030204"/>
                          <a:cs typeface="Calibri" panose="020F0502020204030204"/>
                        </a:rPr>
                        <a:t>4</a:t>
                      </a:r>
                      <a:endParaRPr sz="1400" dirty="0">
                        <a:latin typeface="Calibri" panose="020F0502020204030204"/>
                        <a:cs typeface="Calibri" panose="020F0502020204030204"/>
                      </a:endParaRPr>
                    </a:p>
                  </a:txBody>
                  <a:tcPr marL="0" marR="0" marT="36195"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Ensemble Deep Learning Framework for Oral </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Squamous Cell Carcinoma (OSCC) </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Classification Using Modified VGG </a:t>
                      </a:r>
                      <a:endParaRPr lang="en-US" altLang="en-US" sz="1400" dirty="0">
                        <a:latin typeface="Times New Roman" panose="02020603050405020304"/>
                        <a:cs typeface="Times New Roman" panose="02020603050405020304"/>
                      </a:endParaRPr>
                    </a:p>
                    <a:p>
                      <a:pPr>
                        <a:lnSpc>
                          <a:spcPct val="100000"/>
                        </a:lnSpc>
                      </a:pPr>
                      <a:r>
                        <a:rPr lang="en-US" altLang="en-US" sz="1400" dirty="0">
                          <a:latin typeface="Times New Roman" panose="02020603050405020304"/>
                          <a:cs typeface="Times New Roman" panose="02020603050405020304"/>
                        </a:rPr>
                        <a:t>and CNN Features with XGBoost</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S. Vasuki ,R. Shanmuga Priya,V. G. Janani </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hlinkClick r:id="rId1" action="ppaction://hlinkfile"/>
                        </a:rPr>
                        <a:t>https://ieeexplore.ieee.org/document/11042441</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Image Normalization,Image Resizing,Data Augmentation,Noise Reduction,Edge Enhancement</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Developed a hybrid ensemble model combining deep (CNN + VGG) and classical (XGBoost) techniques.</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dirty="0">
                          <a:latin typeface="Times New Roman" panose="02020603050405020304"/>
                          <a:cs typeface="Times New Roman" panose="02020603050405020304"/>
                        </a:rPr>
                        <a:t> </a:t>
                      </a:r>
                      <a:r>
                        <a:rPr lang="en-US" altLang="en-US" sz="1400" dirty="0">
                          <a:latin typeface="Times New Roman" panose="02020603050405020304"/>
                          <a:cs typeface="Times New Roman" panose="02020603050405020304"/>
                        </a:rPr>
                        <a:t>No Multiclass or Stage-wise Classification,No Segmentation or Lesion Localization</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r>
              <a:tr h="474346">
                <a:tc>
                  <a:txBody>
                    <a:bodyPr/>
                    <a:lstStyle/>
                    <a:p>
                      <a:pPr marL="92075">
                        <a:lnSpc>
                          <a:spcPct val="100000"/>
                        </a:lnSpc>
                        <a:spcBef>
                          <a:spcPts val="295"/>
                        </a:spcBef>
                      </a:pPr>
                      <a:r>
                        <a:rPr sz="1400" spc="-50" dirty="0">
                          <a:latin typeface="Calibri" panose="020F0502020204030204"/>
                          <a:cs typeface="Calibri" panose="020F0502020204030204"/>
                        </a:rPr>
                        <a:t>5</a:t>
                      </a:r>
                      <a:endParaRPr sz="1400">
                        <a:latin typeface="Calibri" panose="020F0502020204030204"/>
                        <a:cs typeface="Calibri" panose="020F0502020204030204"/>
                      </a:endParaRPr>
                    </a:p>
                  </a:txBody>
                  <a:tcPr marL="0" marR="0" marT="37465"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Development of Oral Cancer Detection Technique: A Comprehensive Approach Using CNNs and TensorFlow Lite</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Researchers from Amity Institute of Biotechnology</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hlinkClick r:id="rId2" action="ppaction://hlinkfile"/>
                        </a:rPr>
                        <a:t>https://ieeexplore.ieee.org/document/10932593</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dirty="0">
                          <a:latin typeface="Times New Roman" panose="02020603050405020304"/>
                          <a:cs typeface="Times New Roman" panose="02020603050405020304"/>
                        </a:rPr>
                        <a:t> </a:t>
                      </a:r>
                      <a:r>
                        <a:rPr lang="en-US" altLang="en-US" sz="1400" dirty="0">
                          <a:latin typeface="Times New Roman" panose="02020603050405020304"/>
                          <a:cs typeface="Times New Roman" panose="02020603050405020304"/>
                        </a:rPr>
                        <a:t>Image Collection &amp; Directory Structure Setup,Image Visualization,Data Augmentation </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Developed a lightweight CNN model for binary classification of oral cancer .Provided an end-to-end walkthrough from data collection to real-time testing.</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altLang="en-US" sz="1400" dirty="0">
                          <a:latin typeface="Times New Roman" panose="02020603050405020304"/>
                          <a:cs typeface="Times New Roman" panose="02020603050405020304"/>
                        </a:rPr>
                        <a:t>No Mention of Dataset Size,Lack of Segmentation,No Model Explainability</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88210">
              <a:lnSpc>
                <a:spcPct val="100000"/>
              </a:lnSpc>
              <a:spcBef>
                <a:spcPts val="130"/>
              </a:spcBef>
            </a:pPr>
            <a:r>
              <a:rPr spc="-35" dirty="0"/>
              <a:t>LITERATURE</a:t>
            </a:r>
            <a:r>
              <a:rPr spc="-204" dirty="0"/>
              <a:t> </a:t>
            </a:r>
            <a:r>
              <a:rPr spc="-10" dirty="0"/>
              <a:t>SURVEY</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614680" y="1310005"/>
            <a:ext cx="11222990" cy="4977130"/>
          </a:xfrm>
          <a:prstGeom prst="rect">
            <a:avLst/>
          </a:prstGeom>
        </p:spPr>
        <p:txBody>
          <a:bodyPr vert="horz" wrap="square" lIns="0" tIns="98425" rIns="0" bIns="0" rtlCol="0">
            <a:noAutofit/>
          </a:bodyPr>
          <a:lstStyle/>
          <a:p>
            <a:pPr marL="342900" indent="-342900" algn="just">
              <a:buFont typeface="Arial" panose="020B0604020202020204" pitchFamily="34" charset="0"/>
              <a:buChar char="•"/>
            </a:pPr>
            <a:r>
              <a:rPr lang="en-US" altLang="en-US" sz="2400" b="1" dirty="0">
                <a:latin typeface="Times New Roman" panose="02020603050405020304" charset="0"/>
                <a:cs typeface="Times New Roman" panose="02020603050405020304" charset="0"/>
              </a:rPr>
              <a:t>Singaraju Ramya et al., 2024 – Xception Spiking Fractional Neural Network for OSCC Classification</a:t>
            </a:r>
            <a:endParaRPr lang="en-US" altLang="en-US" sz="2400" b="1"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Key Finding:</a:t>
            </a:r>
            <a:r>
              <a:rPr lang="en-US" altLang="en-US" sz="2400" dirty="0">
                <a:latin typeface="Times New Roman" panose="02020603050405020304" charset="0"/>
                <a:cs typeface="Times New Roman" panose="02020603050405020304" charset="0"/>
              </a:rPr>
              <a:t> Integrated multiple advanced neural architectures to enhance classification </a:t>
            </a:r>
            <a:r>
              <a:rPr lang="en-IN" altLang="en-US" sz="2400" dirty="0">
                <a:latin typeface="Times New Roman" panose="02020603050405020304" charset="0"/>
                <a:cs typeface="Times New Roman" panose="02020603050405020304" charset="0"/>
              </a:rPr>
              <a:t>                 </a:t>
            </a:r>
            <a:r>
              <a:rPr lang="en-US" altLang="en-US" sz="2400" dirty="0">
                <a:latin typeface="Times New Roman" panose="02020603050405020304" charset="0"/>
                <a:cs typeface="Times New Roman" panose="02020603050405020304" charset="0"/>
              </a:rPr>
              <a:t>accuracy in histopathological OSCC detection.</a:t>
            </a:r>
            <a:endParaRPr lang="en-US" alt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Relation:</a:t>
            </a:r>
            <a:r>
              <a:rPr lang="en-US" altLang="en-US" sz="2400" dirty="0">
                <a:latin typeface="Times New Roman" panose="02020603050405020304" charset="0"/>
                <a:cs typeface="Times New Roman" panose="02020603050405020304" charset="0"/>
              </a:rPr>
              <a:t> Inspired the design of XSFN-Net, combining spiking and fractional learning for more efficient and accurate tissue classification.</a:t>
            </a:r>
            <a:endParaRPr lang="en-US" alt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endParaRPr lang="en-US" alt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dirty="0">
                <a:latin typeface="Times New Roman" panose="02020603050405020304" charset="0"/>
                <a:cs typeface="Times New Roman" panose="02020603050405020304" charset="0"/>
              </a:rPr>
              <a:t>G.A.I. Devindi et al., 2023 – Multimodal Deep Convolutional Neural Network for OSCC Detection</a:t>
            </a:r>
            <a:endParaRPr lang="en-US" altLang="en-US" sz="2400" b="1"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Key Finding:</a:t>
            </a:r>
            <a:r>
              <a:rPr lang="en-US" altLang="en-US" sz="2400" dirty="0">
                <a:latin typeface="Times New Roman" panose="02020603050405020304" charset="0"/>
                <a:cs typeface="Times New Roman" panose="02020603050405020304" charset="0"/>
              </a:rPr>
              <a:t> Employed early fusion of metadata and image features to improve model interpretability and accuracy.</a:t>
            </a:r>
            <a:endParaRPr lang="en-US" alt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Relation:</a:t>
            </a:r>
            <a:r>
              <a:rPr lang="en-US" altLang="en-US" sz="2400" dirty="0">
                <a:latin typeface="Times New Roman" panose="02020603050405020304" charset="0"/>
                <a:cs typeface="Times New Roman" panose="02020603050405020304" charset="0"/>
              </a:rPr>
              <a:t> Motivated our use of multi-feature fusion and enhanced preprocessing for richer tissue representation.</a:t>
            </a:r>
            <a:endParaRPr lang="en-US" altLang="en-US" sz="2400"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1180" y="1012825"/>
            <a:ext cx="11031220" cy="5074285"/>
          </a:xfrm>
          <a:prstGeom prst="rect">
            <a:avLst/>
          </a:prstGeom>
          <a:noFill/>
        </p:spPr>
        <p:txBody>
          <a:bodyPr wrap="square" rtlCol="0">
            <a:noAutofit/>
          </a:bodyPr>
          <a:lstStyle/>
          <a:p>
            <a:pPr marL="285750" indent="-285750" algn="just">
              <a:buFont typeface="Arial" panose="020B0604020202020204" pitchFamily="34" charset="0"/>
              <a:buChar char="•"/>
            </a:pPr>
            <a:r>
              <a:rPr lang="en-US" altLang="en-US" sz="2400" b="1" dirty="0">
                <a:latin typeface="Times New Roman" panose="02020603050405020304" charset="0"/>
                <a:cs typeface="Times New Roman" panose="02020603050405020304" charset="0"/>
              </a:rPr>
              <a:t>Madhusmita Das et al., 2023 – An Ensemble Deep Learning Model for Oral </a:t>
            </a:r>
            <a:r>
              <a:rPr lang="en-IN" altLang="en-US" sz="2400" b="1" dirty="0">
                <a:latin typeface="Times New Roman" panose="02020603050405020304" charset="0"/>
                <a:cs typeface="Times New Roman" panose="02020603050405020304" charset="0"/>
              </a:rPr>
              <a:t>  </a:t>
            </a:r>
            <a:r>
              <a:rPr lang="en-US" altLang="en-US" sz="2400" b="1" dirty="0">
                <a:latin typeface="Times New Roman" panose="02020603050405020304" charset="0"/>
                <a:cs typeface="Times New Roman" panose="02020603050405020304" charset="0"/>
              </a:rPr>
              <a:t>Squamous Cell Carcinoma Detection</a:t>
            </a:r>
            <a:endParaRPr lang="en-US" altLang="en-US" sz="2400" b="1"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Key Finding: </a:t>
            </a:r>
            <a:r>
              <a:rPr lang="en-US" altLang="en-US" sz="2400" dirty="0">
                <a:latin typeface="Times New Roman" panose="02020603050405020304" charset="0"/>
                <a:cs typeface="Times New Roman" panose="02020603050405020304" charset="0"/>
              </a:rPr>
              <a:t>Proposed a two-phase ensemble framework that effectively improved diagnostic accuracy and reduced false predictions.</a:t>
            </a:r>
            <a:endParaRPr lang="en-US" alt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Relation: </a:t>
            </a:r>
            <a:r>
              <a:rPr lang="en-US" altLang="en-US" sz="2400" dirty="0">
                <a:latin typeface="Times New Roman" panose="02020603050405020304" charset="0"/>
                <a:cs typeface="Times New Roman" panose="02020603050405020304" charset="0"/>
              </a:rPr>
              <a:t>Guided our ensemble-inspired hybrid approach, enhancing classification robustness in XSFN-Net.</a:t>
            </a:r>
            <a:endParaRPr lang="en-US" alt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endParaRPr lang="en-US" alt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dirty="0">
                <a:latin typeface="Times New Roman" panose="02020603050405020304" charset="0"/>
                <a:cs typeface="Times New Roman" panose="02020603050405020304" charset="0"/>
              </a:rPr>
              <a:t>Rasmita Dash et al., 2023 – Ensemble Deep Learning Framework for Oral Squamous Cell Carcinoma Classification</a:t>
            </a:r>
            <a:endParaRPr lang="en-US" altLang="en-US" sz="2400" b="1"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Key Finding:</a:t>
            </a:r>
            <a:r>
              <a:rPr lang="en-US" altLang="en-US" sz="2400" dirty="0">
                <a:latin typeface="Times New Roman" panose="02020603050405020304" charset="0"/>
                <a:cs typeface="Times New Roman" panose="02020603050405020304" charset="0"/>
              </a:rPr>
              <a:t> Combined deep and handcrafted features to achieve high classification precision in oral cancer detection.</a:t>
            </a:r>
            <a:endParaRPr lang="en-US" alt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dirty="0">
                <a:latin typeface="Times New Roman" panose="02020603050405020304" charset="0"/>
                <a:cs typeface="Times New Roman" panose="02020603050405020304" charset="0"/>
              </a:rPr>
              <a:t>Relation:</a:t>
            </a:r>
            <a:r>
              <a:rPr lang="en-US" altLang="en-US" sz="2400" dirty="0">
                <a:latin typeface="Times New Roman" panose="02020603050405020304" charset="0"/>
                <a:cs typeface="Times New Roman" panose="02020603050405020304" charset="0"/>
              </a:rPr>
              <a:t> Influenced the feature fusion and hierarchical learning design in our proposed model.</a:t>
            </a:r>
            <a:endParaRPr lang="en-US" alt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endParaRPr lang="en-US" altLang="en-US" sz="2400" dirty="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210" y="628650"/>
            <a:ext cx="10100945" cy="1120140"/>
          </a:xfrm>
          <a:prstGeom prst="rect">
            <a:avLst/>
          </a:prstGeom>
        </p:spPr>
        <p:txBody>
          <a:bodyPr vert="horz" wrap="square" lIns="0" tIns="262889" rIns="0" bIns="0" rtlCol="0">
            <a:noAutofit/>
          </a:bodyPr>
          <a:lstStyle/>
          <a:p>
            <a:pPr marL="2856230">
              <a:lnSpc>
                <a:spcPct val="100000"/>
              </a:lnSpc>
              <a:spcBef>
                <a:spcPts val="130"/>
              </a:spcBef>
            </a:pPr>
            <a:r>
              <a:rPr dirty="0"/>
              <a:t>RESEARCH</a:t>
            </a:r>
            <a:r>
              <a:rPr spc="-140" dirty="0"/>
              <a:t> </a:t>
            </a:r>
            <a:r>
              <a:rPr spc="-20" dirty="0"/>
              <a:t>GAPS</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1" name="TextBox 10"/>
          <p:cNvSpPr txBox="1"/>
          <p:nvPr/>
        </p:nvSpPr>
        <p:spPr>
          <a:xfrm>
            <a:off x="671830" y="1976755"/>
            <a:ext cx="10648950" cy="4083685"/>
          </a:xfrm>
          <a:prstGeom prst="rect">
            <a:avLst/>
          </a:prstGeom>
          <a:noFill/>
        </p:spPr>
        <p:txBody>
          <a:bodyPr wrap="square">
            <a:noAutofit/>
          </a:bodyPr>
          <a:lstStyle/>
          <a:p>
            <a:pPr marL="342900" indent="-342900" algn="just">
              <a:buFont typeface="Arial" panose="020B0604020202020204" pitchFamily="34" charset="0"/>
              <a:buChar char="•"/>
            </a:pPr>
            <a:r>
              <a:rPr lang="en-US" altLang="en-US" sz="2400" dirty="0"/>
              <a:t>Most existing models focus on binary classification  rather than multi-class OSCC tissue classification.</a:t>
            </a:r>
            <a:endParaRPr lang="en-US" altLang="en-US" sz="2400" dirty="0"/>
          </a:p>
          <a:p>
            <a:pPr marL="342900" indent="-342900" algn="just">
              <a:buFont typeface="Arial" panose="020B0604020202020204" pitchFamily="34" charset="0"/>
              <a:buChar char="•"/>
            </a:pPr>
            <a:r>
              <a:rPr lang="en-US" altLang="en-US" sz="2400" dirty="0"/>
              <a:t>Limited exploration of hybrid models that combine spiking and fractional-order networks for histopathological image </a:t>
            </a:r>
            <a:endParaRPr lang="en-US" altLang="en-US" sz="2400" dirty="0"/>
          </a:p>
          <a:p>
            <a:pPr marL="342900" indent="-342900" algn="just">
              <a:buFont typeface="Arial" panose="020B0604020202020204" pitchFamily="34" charset="0"/>
              <a:buChar char="•"/>
            </a:pPr>
            <a:r>
              <a:rPr lang="en-US" altLang="en-US" sz="2400" dirty="0"/>
              <a:t>Current CNN and ensemble-based models have high computational cost and lack biological efficiency.</a:t>
            </a:r>
            <a:endParaRPr lang="en-US" altLang="en-US" sz="2400" dirty="0"/>
          </a:p>
          <a:p>
            <a:pPr marL="342900" indent="-342900" algn="just">
              <a:buFont typeface="Arial" panose="020B0604020202020204" pitchFamily="34" charset="0"/>
              <a:buChar char="•"/>
            </a:pPr>
            <a:r>
              <a:rPr lang="en-US" altLang="en-US" sz="2400" dirty="0"/>
              <a:t>Texture-level and cellular feature extraction remain underutilized, affecting the accuracy of fine-grained tissue differentiation.</a:t>
            </a:r>
            <a:endParaRPr lang="en-US" altLang="en-US" sz="2400" dirty="0"/>
          </a:p>
          <a:p>
            <a:pPr marL="342900" indent="-342900" algn="just">
              <a:buFont typeface="Arial" panose="020B0604020202020204" pitchFamily="34" charset="0"/>
              <a:buChar char="•"/>
            </a:pPr>
            <a:r>
              <a:rPr lang="en-US" altLang="en-US" sz="2400" dirty="0"/>
              <a:t>Lack of generalization across diverse datasets due to insufficient data augmentation and feature normalization.</a:t>
            </a:r>
            <a:endParaRPr lang="en-US"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210" y="568960"/>
            <a:ext cx="10100945" cy="914400"/>
          </a:xfrm>
          <a:prstGeom prst="rect">
            <a:avLst/>
          </a:prstGeom>
        </p:spPr>
        <p:txBody>
          <a:bodyPr vert="horz" wrap="square" lIns="0" tIns="262889" rIns="0" bIns="0" rtlCol="0">
            <a:noAutofit/>
          </a:bodyPr>
          <a:lstStyle/>
          <a:p>
            <a:pPr marL="2027555">
              <a:lnSpc>
                <a:spcPct val="100000"/>
              </a:lnSpc>
              <a:spcBef>
                <a:spcPts val="130"/>
              </a:spcBef>
            </a:pPr>
            <a:r>
              <a:rPr dirty="0"/>
              <a:t>PROBLEM</a:t>
            </a:r>
            <a:r>
              <a:rPr spc="-170" dirty="0"/>
              <a:t> </a:t>
            </a:r>
            <a:r>
              <a:rPr spc="-50" dirty="0"/>
              <a:t>STATEMENT</a:t>
            </a:r>
            <a:endParaRPr spc="-5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2" name="TextBox 11"/>
          <p:cNvSpPr txBox="1"/>
          <p:nvPr/>
        </p:nvSpPr>
        <p:spPr>
          <a:xfrm rot="10800000" flipH="1" flipV="1">
            <a:off x="671830" y="1720215"/>
            <a:ext cx="10835005" cy="4221480"/>
          </a:xfrm>
          <a:prstGeom prst="rect">
            <a:avLst/>
          </a:prstGeom>
          <a:noFill/>
        </p:spPr>
        <p:txBody>
          <a:bodyPr wrap="square" rtlCol="0">
            <a:noAutofit/>
          </a:bodyPr>
          <a:lstStyle/>
          <a:p>
            <a:pPr marL="342900" indent="-342900" algn="just">
              <a:buFont typeface="Arial" panose="020B0604020202020204" pitchFamily="34" charset="0"/>
              <a:buChar char="•"/>
            </a:pPr>
            <a:r>
              <a:rPr lang="en-US" altLang="en-US" sz="2400" dirty="0"/>
              <a:t>Early detection through histopathological image analysis is vital but often time-consuming and subjective.</a:t>
            </a:r>
            <a:endParaRPr lang="en-US" altLang="en-US" sz="2400" dirty="0"/>
          </a:p>
          <a:p>
            <a:pPr marL="342900" indent="-342900" algn="just">
              <a:buFont typeface="Arial" panose="020B0604020202020204" pitchFamily="34" charset="0"/>
              <a:buChar char="•"/>
            </a:pPr>
            <a:endParaRPr lang="en-US" altLang="en-US" sz="2400" dirty="0"/>
          </a:p>
          <a:p>
            <a:pPr marL="342900" indent="-342900" algn="just">
              <a:buFont typeface="Arial" panose="020B0604020202020204" pitchFamily="34" charset="0"/>
              <a:buChar char="•"/>
            </a:pPr>
            <a:r>
              <a:rPr lang="en-US" altLang="en-US" sz="2400" dirty="0"/>
              <a:t>Manual diagnosis depends on the expertise of pathologists, leading to inter-observer variability and diagnostic inconsistency.</a:t>
            </a:r>
            <a:endParaRPr lang="en-US" altLang="en-US" sz="2400" dirty="0"/>
          </a:p>
          <a:p>
            <a:pPr marL="342900" indent="-342900" algn="just">
              <a:buFont typeface="Arial" panose="020B0604020202020204" pitchFamily="34" charset="0"/>
              <a:buChar char="•"/>
            </a:pPr>
            <a:endParaRPr lang="en-US" altLang="en-US" sz="2400" dirty="0"/>
          </a:p>
          <a:p>
            <a:pPr marL="342900" indent="-342900" algn="just">
              <a:buFont typeface="Arial" panose="020B0604020202020204" pitchFamily="34" charset="0"/>
              <a:buChar char="•"/>
            </a:pPr>
            <a:r>
              <a:rPr lang="en-US" altLang="en-US" sz="2400" dirty="0"/>
              <a:t>Existing models struggle to capture fine-grained texture and morphological variations in OSCC tissues.</a:t>
            </a:r>
            <a:endParaRPr lang="en-US" altLang="en-US" sz="2400" dirty="0"/>
          </a:p>
          <a:p>
            <a:pPr marL="0" indent="0" algn="just">
              <a:buFont typeface="Arial" panose="020B0604020202020204" pitchFamily="34" charset="0"/>
              <a:buNone/>
            </a:pPr>
            <a:endParaRPr lang="en-US" altLang="en-US" sz="2400" dirty="0"/>
          </a:p>
          <a:p>
            <a:pPr marL="342900" indent="-342900" algn="just">
              <a:buFont typeface="Arial" panose="020B0604020202020204" pitchFamily="34" charset="0"/>
              <a:buChar char="•"/>
            </a:pPr>
            <a:r>
              <a:rPr lang="en-US" altLang="en-US" sz="2400" dirty="0"/>
              <a:t>There is a lack of biologically inspired and energy-efficient models suitable for medical image processing.</a:t>
            </a:r>
            <a:endParaRPr lang="en-US" altLang="en-US" sz="2400" dirty="0"/>
          </a:p>
          <a:p>
            <a:pPr marL="342900" indent="-342900">
              <a:buFont typeface="Arial" panose="020B0604020202020204" pitchFamily="34" charset="0"/>
              <a:buChar char="•"/>
            </a:pPr>
            <a:endParaRPr lang="en-US"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454400">
              <a:lnSpc>
                <a:spcPct val="100000"/>
              </a:lnSpc>
              <a:spcBef>
                <a:spcPts val="130"/>
              </a:spcBef>
            </a:pPr>
            <a:r>
              <a:rPr spc="-10" dirty="0"/>
              <a:t>OBJECTIVES</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685800" y="1711325"/>
            <a:ext cx="10893425" cy="4386580"/>
          </a:xfrm>
          <a:prstGeom prst="rect">
            <a:avLst/>
          </a:prstGeom>
        </p:spPr>
        <p:txBody>
          <a:bodyPr vert="horz" wrap="square" lIns="0" tIns="99060" rIns="0" bIns="0" rtlCol="0">
            <a:noAutofit/>
          </a:bodyPr>
          <a:lstStyle/>
          <a:p>
            <a:pPr marL="355600" indent="-342900" algn="just">
              <a:lnSpc>
                <a:spcPct val="100000"/>
              </a:lnSpc>
              <a:spcBef>
                <a:spcPts val="780"/>
              </a:spcBef>
              <a:buFont typeface="Arial" panose="020B0604020202020204" pitchFamily="34" charset="0"/>
              <a:buChar char="•"/>
              <a:tabLst>
                <a:tab pos="527050" algn="l"/>
              </a:tabLst>
            </a:pPr>
            <a:r>
              <a:rPr lang="en-US" altLang="en-US" sz="2400" dirty="0">
                <a:latin typeface="Times New Roman" panose="02020603050405020304"/>
                <a:cs typeface="Times New Roman" panose="02020603050405020304"/>
              </a:rPr>
              <a:t>To develop a hybrid deep learning model (XSFN-Net) combining Spiking and Fractional Neural Networks for OSCC classification.</a:t>
            </a:r>
            <a:endParaRPr lang="en-US" altLang="en-US" sz="2400" dirty="0">
              <a:latin typeface="Times New Roman" panose="02020603050405020304"/>
              <a:cs typeface="Times New Roman" panose="02020603050405020304"/>
            </a:endParaRPr>
          </a:p>
          <a:p>
            <a:pPr marL="355600" indent="-342900" algn="just">
              <a:lnSpc>
                <a:spcPct val="100000"/>
              </a:lnSpc>
              <a:spcBef>
                <a:spcPts val="780"/>
              </a:spcBef>
              <a:buFont typeface="Arial" panose="020B0604020202020204" pitchFamily="34" charset="0"/>
              <a:buChar char="•"/>
              <a:tabLst>
                <a:tab pos="527050" algn="l"/>
              </a:tabLst>
            </a:pPr>
            <a:r>
              <a:rPr lang="en-US" altLang="en-US" sz="2400" dirty="0">
                <a:latin typeface="Times New Roman" panose="02020603050405020304"/>
                <a:cs typeface="Times New Roman" panose="02020603050405020304"/>
              </a:rPr>
              <a:t>To design an efficient preprocessing pipeline for enhancing histopathological image quality and small-tissue visibility.</a:t>
            </a:r>
            <a:endParaRPr lang="en-US" altLang="en-US" sz="2400" dirty="0">
              <a:latin typeface="Times New Roman" panose="02020603050405020304"/>
              <a:cs typeface="Times New Roman" panose="02020603050405020304"/>
            </a:endParaRPr>
          </a:p>
          <a:p>
            <a:pPr marL="355600" indent="-342900" algn="just">
              <a:lnSpc>
                <a:spcPct val="100000"/>
              </a:lnSpc>
              <a:spcBef>
                <a:spcPts val="780"/>
              </a:spcBef>
              <a:buFont typeface="Arial" panose="020B0604020202020204" pitchFamily="34" charset="0"/>
              <a:buChar char="•"/>
              <a:tabLst>
                <a:tab pos="527050" algn="l"/>
              </a:tabLst>
            </a:pPr>
            <a:r>
              <a:rPr lang="en-US" altLang="en-US" sz="2400" dirty="0">
                <a:latin typeface="Times New Roman" panose="02020603050405020304"/>
                <a:cs typeface="Times New Roman" panose="02020603050405020304"/>
              </a:rPr>
              <a:t>To extract discriminative texture and morphological features from OSCC tissue samples.</a:t>
            </a:r>
            <a:endParaRPr lang="en-US" altLang="en-US" sz="2400" dirty="0">
              <a:latin typeface="Times New Roman" panose="02020603050405020304"/>
              <a:cs typeface="Times New Roman" panose="02020603050405020304"/>
            </a:endParaRPr>
          </a:p>
          <a:p>
            <a:pPr marL="355600" indent="-342900" algn="just">
              <a:lnSpc>
                <a:spcPct val="100000"/>
              </a:lnSpc>
              <a:spcBef>
                <a:spcPts val="780"/>
              </a:spcBef>
              <a:buFont typeface="Arial" panose="020B0604020202020204" pitchFamily="34" charset="0"/>
              <a:buChar char="•"/>
              <a:tabLst>
                <a:tab pos="527050" algn="l"/>
              </a:tabLst>
            </a:pPr>
            <a:r>
              <a:rPr lang="en-US" altLang="en-US" sz="2400" dirty="0">
                <a:latin typeface="Times New Roman" panose="02020603050405020304"/>
                <a:cs typeface="Times New Roman" panose="02020603050405020304"/>
              </a:rPr>
              <a:t>To achieve high classification accuracy with reduced computational complexity and energy efficiency.</a:t>
            </a:r>
            <a:endParaRPr lang="en-US" altLang="en-US" sz="2400" dirty="0">
              <a:latin typeface="Times New Roman" panose="02020603050405020304"/>
              <a:cs typeface="Times New Roman" panose="02020603050405020304"/>
            </a:endParaRPr>
          </a:p>
          <a:p>
            <a:pPr marL="355600" indent="-342900" algn="just">
              <a:lnSpc>
                <a:spcPct val="100000"/>
              </a:lnSpc>
              <a:spcBef>
                <a:spcPts val="780"/>
              </a:spcBef>
              <a:buFont typeface="Arial" panose="020B0604020202020204" pitchFamily="34" charset="0"/>
              <a:buChar char="•"/>
              <a:tabLst>
                <a:tab pos="527050" algn="l"/>
              </a:tabLst>
            </a:pPr>
            <a:r>
              <a:rPr lang="en-US" altLang="en-US" sz="2400" dirty="0">
                <a:latin typeface="Times New Roman" panose="02020603050405020304"/>
                <a:cs typeface="Times New Roman" panose="02020603050405020304"/>
              </a:rPr>
              <a:t>To integrate fractional-order learning for improved convergence and better handling of complex tissue patterns.</a:t>
            </a:r>
            <a:endParaRPr lang="en-US" altLang="en-US" sz="2400" dirty="0">
              <a:latin typeface="Times New Roman" panose="02020603050405020304"/>
              <a:cs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9720" rIns="0" bIns="0" rtlCol="0">
            <a:spAutoFit/>
          </a:bodyPr>
          <a:lstStyle/>
          <a:p>
            <a:pPr marL="360045">
              <a:lnSpc>
                <a:spcPct val="100000"/>
              </a:lnSpc>
              <a:spcBef>
                <a:spcPts val="130"/>
              </a:spcBef>
            </a:pPr>
            <a:r>
              <a:rPr sz="3950" dirty="0"/>
              <a:t>BLOCK</a:t>
            </a:r>
            <a:r>
              <a:rPr sz="3950" spc="60" dirty="0"/>
              <a:t> </a:t>
            </a:r>
            <a:r>
              <a:rPr sz="3950" dirty="0"/>
              <a:t>DIAGRAM</a:t>
            </a:r>
            <a:r>
              <a:rPr sz="3950" spc="90" dirty="0"/>
              <a:t> </a:t>
            </a:r>
            <a:r>
              <a:rPr sz="3950" dirty="0"/>
              <a:t>OR</a:t>
            </a:r>
            <a:r>
              <a:rPr sz="3950" spc="70" dirty="0"/>
              <a:t> </a:t>
            </a:r>
            <a:r>
              <a:rPr sz="3950" dirty="0"/>
              <a:t>FLOW</a:t>
            </a:r>
            <a:r>
              <a:rPr sz="3950" spc="-60" dirty="0"/>
              <a:t> </a:t>
            </a:r>
            <a:r>
              <a:rPr sz="3950" spc="-10" dirty="0"/>
              <a:t>DIAGRAM</a:t>
            </a:r>
            <a:endParaRPr sz="395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Text Box 2"/>
          <p:cNvSpPr txBox="1"/>
          <p:nvPr/>
        </p:nvSpPr>
        <p:spPr>
          <a:xfrm>
            <a:off x="670560" y="1524000"/>
            <a:ext cx="10549890" cy="4113530"/>
          </a:xfrm>
          <a:prstGeom prst="rect">
            <a:avLst/>
          </a:prstGeom>
          <a:noFill/>
        </p:spPr>
        <p:txBody>
          <a:bodyPr wrap="square" rtlCol="0">
            <a:noAutofit/>
          </a:bodyPr>
          <a:p>
            <a:endParaRPr lang="en-IN" altLang="en-US"/>
          </a:p>
        </p:txBody>
      </p:sp>
      <p:pic>
        <p:nvPicPr>
          <p:cNvPr id="10" name="Picture 9" descr="C:/Users/Prasa/OneDrive/Pictures/model2.pngmodel2"/>
          <p:cNvPicPr>
            <a:picLocks noChangeAspect="1"/>
          </p:cNvPicPr>
          <p:nvPr/>
        </p:nvPicPr>
        <p:blipFill>
          <a:blip r:embed="rId1"/>
          <a:srcRect t="11778" b="11778"/>
          <a:stretch>
            <a:fillRect/>
          </a:stretch>
        </p:blipFill>
        <p:spPr>
          <a:xfrm>
            <a:off x="914400" y="1483360"/>
            <a:ext cx="10287000" cy="46189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9" name="Text Box 8"/>
          <p:cNvSpPr txBox="1"/>
          <p:nvPr/>
        </p:nvSpPr>
        <p:spPr>
          <a:xfrm>
            <a:off x="794385" y="1629410"/>
            <a:ext cx="5133340" cy="521970"/>
          </a:xfrm>
          <a:prstGeom prst="rect">
            <a:avLst/>
          </a:prstGeom>
          <a:noFill/>
        </p:spPr>
        <p:txBody>
          <a:bodyPr wrap="square" rtlCol="0">
            <a:spAutoFit/>
          </a:bodyPr>
          <a:p>
            <a:r>
              <a:rPr lang="en-IN" altLang="en-US" sz="2800" b="1">
                <a:latin typeface="Times New Roman" panose="02020603050405020304" charset="0"/>
                <a:cs typeface="Times New Roman" panose="02020603050405020304" charset="0"/>
              </a:rPr>
              <a:t>DATASET  DESCRIPTION</a:t>
            </a:r>
            <a:endParaRPr lang="en-IN" altLang="en-US" sz="2800" b="1">
              <a:latin typeface="Times New Roman" panose="02020603050405020304" charset="0"/>
              <a:cs typeface="Times New Roman" panose="02020603050405020304" charset="0"/>
            </a:endParaRPr>
          </a:p>
        </p:txBody>
      </p:sp>
      <p:sp>
        <p:nvSpPr>
          <p:cNvPr id="11" name="Text Box 10"/>
          <p:cNvSpPr txBox="1"/>
          <p:nvPr/>
        </p:nvSpPr>
        <p:spPr>
          <a:xfrm>
            <a:off x="794385" y="2513330"/>
            <a:ext cx="10737850" cy="3356610"/>
          </a:xfrm>
          <a:prstGeom prst="rect">
            <a:avLst/>
          </a:prstGeom>
          <a:noFill/>
        </p:spPr>
        <p:txBody>
          <a:bodyPr wrap="square" rtlCol="0">
            <a:noAutofit/>
          </a:bodyPr>
          <a:p>
            <a:pPr algn="just"/>
            <a:r>
              <a:rPr lang="en-US" altLang="en-US" sz="2400">
                <a:latin typeface="Times New Roman" panose="02020603050405020304" charset="0"/>
                <a:cs typeface="Times New Roman" panose="02020603050405020304" charset="0"/>
                <a:sym typeface="+mn-ea"/>
              </a:rPr>
              <a:t>Dataset comprises 1,224 histopathological images utilized for the classification of Oral Squamous Cell Carcinoma(OSCC). The images are collected at two different Magnification levels. At 100x Magnification, there are 89 images</a:t>
            </a:r>
            <a:r>
              <a:rPr lang="en-IN" altLang="en-US"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of normal oral Epithelium and 439 images of OSCC tissue.At 400x Magnification, the dataset includes 201 images of</a:t>
            </a:r>
            <a:r>
              <a:rPr lang="en-IN" altLang="en-US"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normal Epithelium and 495 images of OSCC. These images</a:t>
            </a:r>
            <a:r>
              <a:rPr lang="en-IN" altLang="en-US"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offer a diverse representation of both healthy and cancerous</a:t>
            </a:r>
            <a:r>
              <a:rPr lang="en-IN" altLang="en-US"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tissue, aiding in effective model training and evaluation for</a:t>
            </a:r>
            <a:r>
              <a:rPr lang="en-IN" altLang="en-US"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automated OSCC detection.</a:t>
            </a:r>
            <a:endParaRPr lang="en-US" altLang="en-US" sz="2400">
              <a:latin typeface="Times New Roman" panose="02020603050405020304" charset="0"/>
              <a:cs typeface="Times New Roman" panose="02020603050405020304" charset="0"/>
            </a:endParaRPr>
          </a:p>
          <a:p>
            <a:pPr algn="just"/>
            <a:endParaRPr lang="en-US" sz="24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77000" y="914400"/>
            <a:ext cx="4876800" cy="645160"/>
          </a:xfrm>
          <a:prstGeom prst="rect">
            <a:avLst/>
          </a:prstGeom>
          <a:noFill/>
        </p:spPr>
        <p:txBody>
          <a:bodyPr wrap="square" rtlCol="0">
            <a:spAutoFit/>
          </a:bodyPr>
          <a:lstStyle/>
          <a:p>
            <a:r>
              <a:rPr lang="en-IN" dirty="0"/>
              <a:t>	</a:t>
            </a:r>
            <a:endParaRPr lang="en-IN" dirty="0"/>
          </a:p>
          <a:p>
            <a:endParaRPr lang="en-IN" dirty="0"/>
          </a:p>
        </p:txBody>
      </p:sp>
      <p:sp>
        <p:nvSpPr>
          <p:cNvPr id="4" name="Text Box 3"/>
          <p:cNvSpPr txBox="1"/>
          <p:nvPr/>
        </p:nvSpPr>
        <p:spPr>
          <a:xfrm>
            <a:off x="533400" y="990600"/>
            <a:ext cx="5943600" cy="521970"/>
          </a:xfrm>
          <a:prstGeom prst="rect">
            <a:avLst/>
          </a:prstGeom>
          <a:noFill/>
        </p:spPr>
        <p:txBody>
          <a:bodyPr wrap="square" rtlCol="0">
            <a:spAutoFit/>
          </a:bodyPr>
          <a:p>
            <a:r>
              <a:rPr lang="en-IN" altLang="en-US" sz="2800" b="1">
                <a:latin typeface="Times New Roman" panose="02020603050405020304" charset="0"/>
                <a:cs typeface="Times New Roman" panose="02020603050405020304" charset="0"/>
              </a:rPr>
              <a:t>PREPROCESSING TECHNIQUES</a:t>
            </a:r>
            <a:endParaRPr lang="en-IN" altLang="en-US" sz="2800" b="1">
              <a:latin typeface="Times New Roman" panose="02020603050405020304" charset="0"/>
              <a:cs typeface="Times New Roman" panose="02020603050405020304" charset="0"/>
            </a:endParaRPr>
          </a:p>
        </p:txBody>
      </p:sp>
      <p:graphicFrame>
        <p:nvGraphicFramePr>
          <p:cNvPr id="9" name="Table 8"/>
          <p:cNvGraphicFramePr/>
          <p:nvPr>
            <p:custDataLst>
              <p:tags r:id="rId1"/>
            </p:custDataLst>
          </p:nvPr>
        </p:nvGraphicFramePr>
        <p:xfrm>
          <a:off x="1828800" y="1714500"/>
          <a:ext cx="8532495" cy="4366260"/>
        </p:xfrm>
        <a:graphic>
          <a:graphicData uri="http://schemas.openxmlformats.org/drawingml/2006/table">
            <a:tbl>
              <a:tblPr firstRow="1" bandRow="1">
                <a:tableStyleId>{5C22544A-7EE6-4342-B048-85BDC9FD1C3A}</a:tableStyleId>
              </a:tblPr>
              <a:tblGrid>
                <a:gridCol w="1306195"/>
                <a:gridCol w="2487930"/>
                <a:gridCol w="4738370"/>
              </a:tblGrid>
              <a:tr h="727710">
                <a:tc>
                  <a:txBody>
                    <a:bodyPr/>
                    <a:p>
                      <a:pPr>
                        <a:buNone/>
                      </a:pPr>
                      <a:r>
                        <a:rPr lang="en-IN" altLang="en-US"/>
                        <a:t>SNO</a:t>
                      </a:r>
                      <a:endParaRPr lang="en-IN" altLang="en-US"/>
                    </a:p>
                  </a:txBody>
                  <a:tcPr/>
                </a:tc>
                <a:tc>
                  <a:txBody>
                    <a:bodyPr/>
                    <a:p>
                      <a:pPr>
                        <a:buNone/>
                      </a:pPr>
                      <a:r>
                        <a:rPr lang="en-IN" altLang="en-US"/>
                        <a:t>TECHNIQUE</a:t>
                      </a:r>
                      <a:endParaRPr lang="en-IN" altLang="en-US"/>
                    </a:p>
                  </a:txBody>
                  <a:tcPr/>
                </a:tc>
                <a:tc>
                  <a:txBody>
                    <a:bodyPr/>
                    <a:p>
                      <a:pPr>
                        <a:buNone/>
                      </a:pPr>
                      <a:r>
                        <a:rPr lang="en-IN" altLang="en-US"/>
                        <a:t>PURPOSE</a:t>
                      </a:r>
                      <a:endParaRPr lang="en-IN" altLang="en-US"/>
                    </a:p>
                  </a:txBody>
                  <a:tcPr/>
                </a:tc>
              </a:tr>
              <a:tr h="727710">
                <a:tc>
                  <a:txBody>
                    <a:bodyPr/>
                    <a:p>
                      <a:pPr>
                        <a:buNone/>
                      </a:pPr>
                      <a:endParaRPr lang="en-US"/>
                    </a:p>
                    <a:p>
                      <a:pPr>
                        <a:buNone/>
                      </a:pPr>
                      <a:r>
                        <a:rPr lang="en-IN" altLang="en-US"/>
                        <a:t>1</a:t>
                      </a:r>
                      <a:endParaRPr lang="en-IN" altLang="en-US"/>
                    </a:p>
                  </a:txBody>
                  <a:tcPr/>
                </a:tc>
                <a:tc>
                  <a:txBody>
                    <a:bodyPr/>
                    <a:p>
                      <a:pPr>
                        <a:buNone/>
                      </a:pPr>
                      <a:endParaRPr lang="en-US"/>
                    </a:p>
                    <a:p>
                      <a:pPr>
                        <a:buNone/>
                      </a:pPr>
                      <a:r>
                        <a:rPr lang="en-US" altLang="en-US">
                          <a:latin typeface="Times New Roman" panose="02020603050405020304" charset="0"/>
                          <a:cs typeface="Times New Roman" panose="02020603050405020304" charset="0"/>
                        </a:rPr>
                        <a:t>Medav Filter</a:t>
                      </a:r>
                      <a:endParaRPr lang="en-US" altLang="en-US">
                        <a:latin typeface="Times New Roman" panose="02020603050405020304" charset="0"/>
                        <a:cs typeface="Times New Roman" panose="02020603050405020304" charset="0"/>
                      </a:endParaRPr>
                    </a:p>
                  </a:txBody>
                  <a:tcPr/>
                </a:tc>
                <a:tc>
                  <a:txBody>
                    <a:bodyPr/>
                    <a:p>
                      <a:pPr>
                        <a:buNone/>
                      </a:pPr>
                      <a:r>
                        <a:rPr lang="en-US" altLang="en-US">
                          <a:latin typeface="Times New Roman" panose="02020603050405020304" charset="0"/>
                          <a:cs typeface="Times New Roman" panose="02020603050405020304" charset="0"/>
                        </a:rPr>
                        <a:t>It removes noise and preserves fine</a:t>
                      </a:r>
                      <a:endParaRPr lang="en-US" altLang="en-US">
                        <a:latin typeface="Times New Roman" panose="02020603050405020304" charset="0"/>
                        <a:cs typeface="Times New Roman" panose="02020603050405020304" charset="0"/>
                      </a:endParaRPr>
                    </a:p>
                    <a:p>
                      <a:pPr>
                        <a:buNone/>
                      </a:pPr>
                      <a:r>
                        <a:rPr lang="en-US" altLang="en-US">
                          <a:latin typeface="Times New Roman" panose="02020603050405020304" charset="0"/>
                          <a:cs typeface="Times New Roman" panose="02020603050405020304" charset="0"/>
                        </a:rPr>
                        <a:t>tissue structure</a:t>
                      </a:r>
                      <a:endParaRPr lang="en-US" altLang="en-US">
                        <a:latin typeface="Times New Roman" panose="02020603050405020304" charset="0"/>
                        <a:cs typeface="Times New Roman" panose="02020603050405020304" charset="0"/>
                      </a:endParaRPr>
                    </a:p>
                  </a:txBody>
                  <a:tcPr/>
                </a:tc>
              </a:tr>
              <a:tr h="727710">
                <a:tc>
                  <a:txBody>
                    <a:bodyPr/>
                    <a:p>
                      <a:pPr>
                        <a:buNone/>
                      </a:pPr>
                      <a:endParaRPr lang="en-US"/>
                    </a:p>
                    <a:p>
                      <a:pPr>
                        <a:buNone/>
                      </a:pPr>
                      <a:r>
                        <a:rPr lang="en-IN" altLang="en-US"/>
                        <a:t>2</a:t>
                      </a:r>
                      <a:endParaRPr lang="en-IN" altLang="en-US"/>
                    </a:p>
                  </a:txBody>
                  <a:tcPr/>
                </a:tc>
                <a:tc>
                  <a:txBody>
                    <a:bodyPr/>
                    <a:p>
                      <a:pPr>
                        <a:buNone/>
                      </a:pPr>
                      <a:endParaRPr lang="en-US"/>
                    </a:p>
                    <a:p>
                      <a:pPr>
                        <a:buNone/>
                      </a:pPr>
                      <a:r>
                        <a:rPr lang="en-IN" altLang="en-US">
                          <a:latin typeface="Times New Roman" panose="02020603050405020304" charset="0"/>
                          <a:cs typeface="Times New Roman" panose="02020603050405020304" charset="0"/>
                        </a:rPr>
                        <a:t>Pixel wise Segmentation</a:t>
                      </a:r>
                      <a:endParaRPr lang="en-IN" altLang="en-US">
                        <a:latin typeface="Times New Roman" panose="02020603050405020304" charset="0"/>
                        <a:cs typeface="Times New Roman" panose="02020603050405020304" charset="0"/>
                      </a:endParaRPr>
                    </a:p>
                  </a:txBody>
                  <a:tcPr/>
                </a:tc>
                <a:tc>
                  <a:txBody>
                    <a:bodyPr/>
                    <a:p>
                      <a:pPr>
                        <a:buNone/>
                      </a:pPr>
                      <a:r>
                        <a:rPr lang="en-US" dirty="0">
                          <a:solidFill>
                            <a:srgbClr val="2B3541"/>
                          </a:solidFill>
                          <a:latin typeface="Times New Roman" panose="02020603050405020304" charset="0"/>
                          <a:ea typeface="Funnel Sans" pitchFamily="34" charset="-122"/>
                          <a:cs typeface="Times New Roman" panose="02020603050405020304" charset="0"/>
                          <a:sym typeface="+mn-ea"/>
                        </a:rPr>
                        <a:t>Highlights pathological regions by refining coarse segmentation maps</a:t>
                      </a:r>
                      <a:endParaRPr lang="en-US">
                        <a:latin typeface="Times New Roman" panose="02020603050405020304" charset="0"/>
                        <a:cs typeface="Times New Roman" panose="02020603050405020304" charset="0"/>
                      </a:endParaRPr>
                    </a:p>
                  </a:txBody>
                  <a:tcPr/>
                </a:tc>
              </a:tr>
              <a:tr h="727710">
                <a:tc>
                  <a:txBody>
                    <a:bodyPr/>
                    <a:p>
                      <a:pPr>
                        <a:buNone/>
                      </a:pPr>
                      <a:endParaRPr lang="en-US"/>
                    </a:p>
                    <a:p>
                      <a:pPr>
                        <a:buNone/>
                      </a:pPr>
                      <a:r>
                        <a:rPr lang="en-IN" altLang="en-US"/>
                        <a:t>3</a:t>
                      </a:r>
                      <a:endParaRPr lang="en-IN" altLang="en-US"/>
                    </a:p>
                  </a:txBody>
                  <a:tcPr/>
                </a:tc>
                <a:tc>
                  <a:txBody>
                    <a:bodyPr/>
                    <a:p>
                      <a:pPr>
                        <a:buNone/>
                      </a:pPr>
                      <a:endParaRPr lang="en-US"/>
                    </a:p>
                    <a:p>
                      <a:pPr>
                        <a:buNone/>
                      </a:pPr>
                      <a:r>
                        <a:rPr lang="en-US" altLang="en-US">
                          <a:latin typeface="Times New Roman" panose="02020603050405020304" charset="0"/>
                          <a:cs typeface="Times New Roman" panose="02020603050405020304" charset="0"/>
                        </a:rPr>
                        <a:t>Local Vector Pattern</a:t>
                      </a:r>
                      <a:endParaRPr lang="en-US" altLang="en-US">
                        <a:latin typeface="Times New Roman" panose="02020603050405020304" charset="0"/>
                        <a:cs typeface="Times New Roman" panose="02020603050405020304" charset="0"/>
                      </a:endParaRPr>
                    </a:p>
                  </a:txBody>
                  <a:tcPr/>
                </a:tc>
                <a:tc>
                  <a:txBody>
                    <a:bodyPr/>
                    <a:p>
                      <a:pPr>
                        <a:buNone/>
                      </a:pPr>
                      <a:endParaRPr lang="en-US" altLang="en-US"/>
                    </a:p>
                    <a:p>
                      <a:pPr>
                        <a:buNone/>
                      </a:pPr>
                      <a:r>
                        <a:rPr lang="en-US" altLang="en-US">
                          <a:latin typeface="Times New Roman" panose="02020603050405020304" charset="0"/>
                          <a:cs typeface="Times New Roman" panose="02020603050405020304" charset="0"/>
                        </a:rPr>
                        <a:t>Captures textural and structural orientation</a:t>
                      </a:r>
                      <a:endParaRPr lang="en-US" altLang="en-US">
                        <a:latin typeface="Times New Roman" panose="02020603050405020304" charset="0"/>
                        <a:cs typeface="Times New Roman" panose="02020603050405020304" charset="0"/>
                      </a:endParaRPr>
                    </a:p>
                  </a:txBody>
                  <a:tcPr/>
                </a:tc>
              </a:tr>
              <a:tr h="727710">
                <a:tc>
                  <a:txBody>
                    <a:bodyPr/>
                    <a:p>
                      <a:pPr>
                        <a:buNone/>
                      </a:pPr>
                      <a:endParaRPr lang="en-US"/>
                    </a:p>
                    <a:p>
                      <a:pPr>
                        <a:buNone/>
                      </a:pPr>
                      <a:r>
                        <a:rPr lang="en-IN" altLang="en-US"/>
                        <a:t>4</a:t>
                      </a:r>
                      <a:endParaRPr lang="en-IN" altLang="en-US"/>
                    </a:p>
                  </a:txBody>
                  <a:tcPr/>
                </a:tc>
                <a:tc>
                  <a:txBody>
                    <a:bodyPr/>
                    <a:p>
                      <a:pPr>
                        <a:buNone/>
                      </a:pPr>
                      <a:endParaRPr lang="en-US"/>
                    </a:p>
                    <a:p>
                      <a:pPr>
                        <a:buNone/>
                      </a:pPr>
                      <a:r>
                        <a:rPr lang="en-US" altLang="en-US">
                          <a:latin typeface="Times New Roman" panose="02020603050405020304" charset="0"/>
                          <a:cs typeface="Times New Roman" panose="02020603050405020304" charset="0"/>
                        </a:rPr>
                        <a:t>Discrete Wavelet Transform</a:t>
                      </a:r>
                      <a:endParaRPr lang="en-US" altLang="en-US">
                        <a:latin typeface="Times New Roman" panose="02020603050405020304" charset="0"/>
                        <a:cs typeface="Times New Roman" panose="02020603050405020304" charset="0"/>
                      </a:endParaRPr>
                    </a:p>
                  </a:txBody>
                  <a:tcPr/>
                </a:tc>
                <a:tc>
                  <a:txBody>
                    <a:bodyPr/>
                    <a:p>
                      <a:pPr>
                        <a:buNone/>
                      </a:pPr>
                      <a:r>
                        <a:rPr lang="en-US" altLang="en-US">
                          <a:latin typeface="Times New Roman" panose="02020603050405020304" charset="0"/>
                          <a:cs typeface="Times New Roman" panose="02020603050405020304" charset="0"/>
                        </a:rPr>
                        <a:t>Encodes spatial-frequency information across scales.</a:t>
                      </a:r>
                      <a:endParaRPr lang="en-US" altLang="en-US">
                        <a:latin typeface="Times New Roman" panose="02020603050405020304" charset="0"/>
                        <a:cs typeface="Times New Roman" panose="02020603050405020304" charset="0"/>
                      </a:endParaRPr>
                    </a:p>
                  </a:txBody>
                  <a:tcPr/>
                </a:tc>
              </a:tr>
              <a:tr h="727710">
                <a:tc>
                  <a:txBody>
                    <a:bodyPr/>
                    <a:p>
                      <a:pPr>
                        <a:buNone/>
                      </a:pPr>
                      <a:endParaRPr lang="en-US"/>
                    </a:p>
                    <a:p>
                      <a:pPr>
                        <a:buNone/>
                      </a:pPr>
                      <a:r>
                        <a:rPr lang="en-IN" altLang="en-US"/>
                        <a:t>5</a:t>
                      </a:r>
                      <a:endParaRPr lang="en-IN" altLang="en-US"/>
                    </a:p>
                  </a:txBody>
                  <a:tcPr/>
                </a:tc>
                <a:tc>
                  <a:txBody>
                    <a:bodyPr/>
                    <a:p>
                      <a:pPr>
                        <a:buNone/>
                      </a:pPr>
                      <a:r>
                        <a:rPr lang="en-US" altLang="en-US">
                          <a:latin typeface="Times New Roman" panose="02020603050405020304" charset="0"/>
                          <a:cs typeface="Times New Roman" panose="02020603050405020304" charset="0"/>
                        </a:rPr>
                        <a:t>Gray level run-length matrix</a:t>
                      </a:r>
                      <a:endParaRPr lang="en-US" altLang="en-US">
                        <a:latin typeface="Times New Roman" panose="02020603050405020304" charset="0"/>
                        <a:cs typeface="Times New Roman" panose="02020603050405020304" charset="0"/>
                      </a:endParaRPr>
                    </a:p>
                  </a:txBody>
                  <a:tcPr/>
                </a:tc>
                <a:tc>
                  <a:txBody>
                    <a:bodyPr/>
                    <a:p>
                      <a:pPr>
                        <a:buNone/>
                      </a:pPr>
                      <a:r>
                        <a:rPr lang="en-US" altLang="en-US">
                          <a:latin typeface="Times New Roman" panose="02020603050405020304" charset="0"/>
                          <a:cs typeface="Times New Roman" panose="02020603050405020304" charset="0"/>
                        </a:rPr>
                        <a:t>Extracts statistical texture features</a:t>
                      </a:r>
                      <a:endParaRPr lang="en-US" altLang="en-US">
                        <a:latin typeface="Times New Roman" panose="02020603050405020304" charset="0"/>
                        <a:cs typeface="Times New Roman" panose="02020603050405020304" charset="0"/>
                      </a:endParaRPr>
                    </a:p>
                    <a:p>
                      <a:pPr>
                        <a:buNone/>
                      </a:pPr>
                      <a:r>
                        <a:rPr lang="en-US" altLang="en-US">
                          <a:latin typeface="Times New Roman" panose="02020603050405020304" charset="0"/>
                          <a:cs typeface="Times New Roman" panose="02020603050405020304" charset="0"/>
                        </a:rPr>
                        <a:t>like run-length and gray-level variations.</a:t>
                      </a:r>
                      <a:endParaRPr lang="en-US" altLang="en-US">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5155" y="1263015"/>
            <a:ext cx="5117465" cy="460375"/>
          </a:xfrm>
          <a:prstGeom prst="rect">
            <a:avLst/>
          </a:prstGeom>
          <a:noFill/>
        </p:spPr>
        <p:txBody>
          <a:bodyPr wrap="square" rtlCol="0">
            <a:spAutoFit/>
          </a:bodyPr>
          <a:p>
            <a:r>
              <a:rPr lang="en-IN" altLang="en-US" sz="2400" b="1">
                <a:latin typeface="Times New Roman" panose="02020603050405020304" charset="0"/>
                <a:cs typeface="Times New Roman" panose="02020603050405020304" charset="0"/>
              </a:rPr>
              <a:t>MEDAV FILTER</a:t>
            </a:r>
            <a:endParaRPr lang="en-IN" altLang="en-US" sz="2400" b="1">
              <a:latin typeface="Times New Roman" panose="02020603050405020304" charset="0"/>
              <a:cs typeface="Times New Roman" panose="02020603050405020304" charset="0"/>
            </a:endParaRPr>
          </a:p>
        </p:txBody>
      </p:sp>
      <p:sp>
        <p:nvSpPr>
          <p:cNvPr id="3" name="Text Box 2"/>
          <p:cNvSpPr txBox="1"/>
          <p:nvPr/>
        </p:nvSpPr>
        <p:spPr>
          <a:xfrm>
            <a:off x="694055" y="1774190"/>
            <a:ext cx="10301605" cy="1577975"/>
          </a:xfrm>
          <a:prstGeom prst="rect">
            <a:avLst/>
          </a:prstGeom>
          <a:noFill/>
        </p:spPr>
        <p:txBody>
          <a:bodyPr wrap="square" rtlCol="0">
            <a:noAutofit/>
          </a:bodyPr>
          <a:p>
            <a:r>
              <a:rPr lang="en-US" altLang="en-US" sz="2400">
                <a:latin typeface="Times New Roman" panose="02020603050405020304" charset="0"/>
                <a:cs typeface="Times New Roman" panose="02020603050405020304" charset="0"/>
              </a:rPr>
              <a:t>This filter is a hybrid of</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adaptive median and mean filters, designed to:</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 Remove impulse noise,</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 Enhance tissue contrast,</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 Preserve fine histological details.</a:t>
            </a:r>
            <a:endParaRPr lang="en-US" altLang="en-US" sz="2400">
              <a:latin typeface="Times New Roman" panose="02020603050405020304" charset="0"/>
              <a:cs typeface="Times New Roman" panose="02020603050405020304" charset="0"/>
            </a:endParaRPr>
          </a:p>
        </p:txBody>
      </p:sp>
      <p:sp>
        <p:nvSpPr>
          <p:cNvPr id="4" name="Text Box 3"/>
          <p:cNvSpPr txBox="1"/>
          <p:nvPr/>
        </p:nvSpPr>
        <p:spPr>
          <a:xfrm>
            <a:off x="693420" y="3804920"/>
            <a:ext cx="5173345" cy="460375"/>
          </a:xfrm>
          <a:prstGeom prst="rect">
            <a:avLst/>
          </a:prstGeom>
          <a:noFill/>
        </p:spPr>
        <p:txBody>
          <a:bodyPr wrap="square" rtlCol="0">
            <a:spAutoFit/>
          </a:bodyPr>
          <a:p>
            <a:r>
              <a:rPr lang="en-IN" altLang="en-US" sz="2400" b="1">
                <a:latin typeface="Times New Roman" panose="02020603050405020304" charset="0"/>
                <a:cs typeface="Times New Roman" panose="02020603050405020304" charset="0"/>
              </a:rPr>
              <a:t>PIXEL WISE SEGMENTATION</a:t>
            </a:r>
            <a:endParaRPr lang="en-IN" altLang="en-US" sz="2400" b="1">
              <a:latin typeface="Times New Roman" panose="02020603050405020304" charset="0"/>
              <a:cs typeface="Times New Roman" panose="02020603050405020304" charset="0"/>
            </a:endParaRPr>
          </a:p>
        </p:txBody>
      </p:sp>
      <p:sp>
        <p:nvSpPr>
          <p:cNvPr id="5" name="Text Box 4"/>
          <p:cNvSpPr txBox="1"/>
          <p:nvPr/>
        </p:nvSpPr>
        <p:spPr>
          <a:xfrm>
            <a:off x="798830" y="4419600"/>
            <a:ext cx="9374505" cy="1673860"/>
          </a:xfrm>
          <a:prstGeom prst="rect">
            <a:avLst/>
          </a:prstGeom>
          <a:noFill/>
        </p:spPr>
        <p:txBody>
          <a:bodyPr wrap="square" rtlCol="0">
            <a:noAutofit/>
          </a:bodyPr>
          <a:p>
            <a:r>
              <a:rPr lang="en-US" sz="2400" dirty="0">
                <a:solidFill>
                  <a:srgbClr val="2B3541"/>
                </a:solidFill>
                <a:latin typeface="Times New Roman" panose="02020603050405020304" charset="0"/>
                <a:ea typeface="Funnel Sans" pitchFamily="34" charset="-122"/>
                <a:cs typeface="Times New Roman" panose="02020603050405020304" charset="0"/>
                <a:sym typeface="+mn-ea"/>
              </a:rPr>
              <a:t>Highlights pathological regions by refining coarse segmentation maps and aggregating high-level features.</a:t>
            </a:r>
            <a:endParaRPr lang="en-US" sz="2400" dirty="0">
              <a:latin typeface="Times New Roman" panose="02020603050405020304" charset="0"/>
              <a:cs typeface="Times New Roman" panose="02020603050405020304" charset="0"/>
            </a:endParaRPr>
          </a:p>
          <a:p>
            <a:endParaRPr lang="en-US" sz="24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22020" y="1311275"/>
            <a:ext cx="10246995" cy="852170"/>
          </a:xfrm>
          <a:prstGeom prst="rect">
            <a:avLst/>
          </a:prstGeom>
          <a:noFill/>
        </p:spPr>
        <p:txBody>
          <a:bodyPr wrap="square" rtlCol="0">
            <a:noAutofit/>
          </a:bodyPr>
          <a:p>
            <a:r>
              <a:rPr lang="en-IN" altLang="en-US" sz="2400">
                <a:latin typeface="Times New Roman" panose="02020603050405020304" charset="0"/>
                <a:cs typeface="Times New Roman" panose="02020603050405020304" charset="0"/>
              </a:rPr>
              <a:t>After applying Medav Filter and Pixel Wise Segmentation the input image can be changed as shown below</a:t>
            </a:r>
            <a:endParaRPr lang="en-IN" altLang="en-US" sz="2400">
              <a:latin typeface="Times New Roman" panose="02020603050405020304" charset="0"/>
              <a:cs typeface="Times New Roman" panose="02020603050405020304" charset="0"/>
            </a:endParaRPr>
          </a:p>
        </p:txBody>
      </p:sp>
      <p:pic>
        <p:nvPicPr>
          <p:cNvPr id="4" name="Picture 3" descr="Normal_400x_1"/>
          <p:cNvPicPr>
            <a:picLocks noChangeAspect="1"/>
          </p:cNvPicPr>
          <p:nvPr/>
        </p:nvPicPr>
        <p:blipFill>
          <a:blip r:embed="rId1"/>
          <a:stretch>
            <a:fillRect/>
          </a:stretch>
        </p:blipFill>
        <p:spPr>
          <a:xfrm>
            <a:off x="1699260" y="2575560"/>
            <a:ext cx="2835275" cy="2811145"/>
          </a:xfrm>
          <a:prstGeom prst="rect">
            <a:avLst/>
          </a:prstGeom>
        </p:spPr>
      </p:pic>
      <p:sp>
        <p:nvSpPr>
          <p:cNvPr id="5" name="Right Arrow 4"/>
          <p:cNvSpPr/>
          <p:nvPr/>
        </p:nvSpPr>
        <p:spPr>
          <a:xfrm>
            <a:off x="5029200" y="3810000"/>
            <a:ext cx="1219200" cy="3187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Text Box 5"/>
          <p:cNvSpPr txBox="1"/>
          <p:nvPr/>
        </p:nvSpPr>
        <p:spPr>
          <a:xfrm>
            <a:off x="2268855" y="5594350"/>
            <a:ext cx="1979295" cy="644525"/>
          </a:xfrm>
          <a:prstGeom prst="rect">
            <a:avLst/>
          </a:prstGeom>
          <a:noFill/>
        </p:spPr>
        <p:txBody>
          <a:bodyPr wrap="square" rtlCol="0">
            <a:noAutofit/>
          </a:bodyPr>
          <a:p>
            <a:r>
              <a:rPr lang="en-IN" altLang="en-US" sz="2400" b="1">
                <a:latin typeface="Times New Roman" panose="02020603050405020304" charset="0"/>
                <a:cs typeface="Times New Roman" panose="02020603050405020304" charset="0"/>
              </a:rPr>
              <a:t>Input Image</a:t>
            </a:r>
            <a:endParaRPr lang="en-IN" altLang="en-US" sz="2400" b="1">
              <a:latin typeface="Times New Roman" panose="02020603050405020304" charset="0"/>
              <a:cs typeface="Times New Roman" panose="02020603050405020304" charset="0"/>
            </a:endParaRPr>
          </a:p>
        </p:txBody>
      </p:sp>
      <p:pic>
        <p:nvPicPr>
          <p:cNvPr id="8" name="Picture 7" descr="Normal_400x_1"/>
          <p:cNvPicPr>
            <a:picLocks noChangeAspect="1"/>
          </p:cNvPicPr>
          <p:nvPr/>
        </p:nvPicPr>
        <p:blipFill>
          <a:blip r:embed="rId1"/>
          <a:stretch>
            <a:fillRect/>
          </a:stretch>
        </p:blipFill>
        <p:spPr>
          <a:xfrm>
            <a:off x="6400800" y="2491740"/>
            <a:ext cx="4448810" cy="3001645"/>
          </a:xfrm>
          <a:prstGeom prst="rect">
            <a:avLst/>
          </a:prstGeom>
          <a:solidFill>
            <a:schemeClr val="accent1"/>
          </a:solidFill>
        </p:spPr>
      </p:pic>
      <p:sp>
        <p:nvSpPr>
          <p:cNvPr id="9" name="Text Box 8"/>
          <p:cNvSpPr txBox="1"/>
          <p:nvPr/>
        </p:nvSpPr>
        <p:spPr>
          <a:xfrm>
            <a:off x="7310755" y="5629275"/>
            <a:ext cx="3026410" cy="431165"/>
          </a:xfrm>
          <a:prstGeom prst="rect">
            <a:avLst/>
          </a:prstGeom>
          <a:noFill/>
        </p:spPr>
        <p:txBody>
          <a:bodyPr wrap="square" rtlCol="0">
            <a:noAutofit/>
          </a:bodyPr>
          <a:p>
            <a:r>
              <a:rPr lang="en-IN" altLang="en-US" sz="2400" b="1">
                <a:latin typeface="Times New Roman" panose="02020603050405020304" charset="0"/>
                <a:cs typeface="Times New Roman" panose="02020603050405020304" charset="0"/>
              </a:rPr>
              <a:t>   Output Image</a:t>
            </a:r>
            <a:endParaRPr lang="en-IN" altLang="en-US" sz="2400" b="1">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PAVITRA2.drawio"/>
          <p:cNvPicPr>
            <a:picLocks noChangeAspect="1"/>
          </p:cNvPicPr>
          <p:nvPr/>
        </p:nvPicPr>
        <p:blipFill>
          <a:blip r:embed="rId1"/>
          <a:stretch>
            <a:fillRect/>
          </a:stretch>
        </p:blipFill>
        <p:spPr>
          <a:xfrm>
            <a:off x="2393315" y="1318895"/>
            <a:ext cx="7973060" cy="4564380"/>
          </a:xfrm>
          <a:prstGeom prst="rect">
            <a:avLst/>
          </a:prstGeom>
        </p:spPr>
      </p:pic>
      <p:sp>
        <p:nvSpPr>
          <p:cNvPr id="4" name="Text Box 3"/>
          <p:cNvSpPr txBox="1"/>
          <p:nvPr/>
        </p:nvSpPr>
        <p:spPr>
          <a:xfrm>
            <a:off x="596900" y="897890"/>
            <a:ext cx="4333240" cy="460375"/>
          </a:xfrm>
          <a:prstGeom prst="rect">
            <a:avLst/>
          </a:prstGeom>
          <a:noFill/>
        </p:spPr>
        <p:txBody>
          <a:bodyPr wrap="square" rtlCol="0">
            <a:spAutoFit/>
          </a:bodyPr>
          <a:p>
            <a:r>
              <a:rPr lang="en-IN" altLang="en-US" sz="2400" b="1">
                <a:latin typeface="Times New Roman" panose="02020603050405020304" charset="0"/>
                <a:cs typeface="Times New Roman" panose="02020603050405020304" charset="0"/>
              </a:rPr>
              <a:t>FEATURE EXTRACTION</a:t>
            </a:r>
            <a:endParaRPr lang="en-IN" altLang="en-US" sz="2400" b="1">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3015" y="1031240"/>
            <a:ext cx="9836785" cy="2579370"/>
          </a:xfrm>
          <a:prstGeom prst="rect">
            <a:avLst/>
          </a:prstGeom>
          <a:noFill/>
        </p:spPr>
        <p:txBody>
          <a:bodyPr wrap="square" rtlCol="0">
            <a:noAutofit/>
          </a:bodyPr>
          <a:p>
            <a:pPr marL="285750" indent="-285750">
              <a:buFont typeface="Arial" panose="020B0604020202020204" pitchFamily="34" charset="0"/>
              <a:buChar char="•"/>
            </a:pPr>
            <a:r>
              <a:rPr lang="en-US" altLang="en-US" sz="2400" b="1">
                <a:latin typeface="Times New Roman" panose="02020603050405020304" charset="0"/>
                <a:cs typeface="Times New Roman" panose="02020603050405020304" charset="0"/>
              </a:rPr>
              <a:t>Local Vector Pattern (LVP):</a:t>
            </a:r>
            <a:r>
              <a:rPr lang="en-US" altLang="en-US" sz="2400">
                <a:latin typeface="Times New Roman" panose="02020603050405020304" charset="0"/>
                <a:cs typeface="Times New Roman" panose="02020603050405020304" charset="0"/>
              </a:rPr>
              <a:t> Captures textural and</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structural orientation.</a:t>
            </a:r>
            <a:endParaRPr lang="en-US" altLang="en-US"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400" b="1">
                <a:latin typeface="Times New Roman" panose="02020603050405020304" charset="0"/>
                <a:cs typeface="Times New Roman" panose="02020603050405020304" charset="0"/>
              </a:rPr>
              <a:t>Discrete Wavelet Transform (DWT):</a:t>
            </a:r>
            <a:r>
              <a:rPr lang="en-US" altLang="en-US" sz="2400">
                <a:latin typeface="Times New Roman" panose="02020603050405020304" charset="0"/>
                <a:cs typeface="Times New Roman" panose="02020603050405020304" charset="0"/>
              </a:rPr>
              <a:t> Encodes spatial</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frequency information across scales.</a:t>
            </a:r>
            <a:endParaRPr lang="en-US" altLang="en-US"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400" b="1">
                <a:latin typeface="Times New Roman" panose="02020603050405020304" charset="0"/>
                <a:cs typeface="Times New Roman" panose="02020603050405020304" charset="0"/>
              </a:rPr>
              <a:t>Gray Level Run-Length Matrix (GLRM):</a:t>
            </a:r>
            <a:r>
              <a:rPr lang="en-US" altLang="en-US" sz="2400">
                <a:latin typeface="Times New Roman" panose="02020603050405020304" charset="0"/>
                <a:cs typeface="Times New Roman" panose="02020603050405020304" charset="0"/>
              </a:rPr>
              <a:t> Extracts</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statistical texture descriptors</a:t>
            </a:r>
            <a:endParaRPr lang="en-US" altLang="en-US" sz="2400">
              <a:latin typeface="Times New Roman" panose="02020603050405020304" charset="0"/>
              <a:cs typeface="Times New Roman" panose="02020603050405020304" charset="0"/>
            </a:endParaRPr>
          </a:p>
        </p:txBody>
      </p:sp>
      <p:pic>
        <p:nvPicPr>
          <p:cNvPr id="4" name="Picture 3" descr="Before pre"/>
          <p:cNvPicPr>
            <a:picLocks noChangeAspect="1"/>
          </p:cNvPicPr>
          <p:nvPr/>
        </p:nvPicPr>
        <p:blipFill>
          <a:blip r:embed="rId1"/>
          <a:stretch>
            <a:fillRect/>
          </a:stretch>
        </p:blipFill>
        <p:spPr>
          <a:xfrm>
            <a:off x="1607185" y="3089275"/>
            <a:ext cx="4794885" cy="2806700"/>
          </a:xfrm>
          <a:prstGeom prst="rect">
            <a:avLst/>
          </a:prstGeom>
        </p:spPr>
      </p:pic>
      <p:sp>
        <p:nvSpPr>
          <p:cNvPr id="5" name="Text Box 4"/>
          <p:cNvSpPr txBox="1"/>
          <p:nvPr/>
        </p:nvSpPr>
        <p:spPr>
          <a:xfrm>
            <a:off x="2107565" y="6031230"/>
            <a:ext cx="5711825" cy="455295"/>
          </a:xfrm>
          <a:prstGeom prst="rect">
            <a:avLst/>
          </a:prstGeom>
          <a:noFill/>
        </p:spPr>
        <p:txBody>
          <a:bodyPr wrap="square" rtlCol="0">
            <a:noAutofit/>
          </a:bodyPr>
          <a:p>
            <a:r>
              <a:rPr lang="en-IN" altLang="en-US"/>
              <a:t>           </a:t>
            </a:r>
            <a:r>
              <a:rPr lang="en-IN" altLang="en-US" b="1">
                <a:latin typeface="Times New Roman" panose="02020603050405020304" charset="0"/>
                <a:cs typeface="Times New Roman" panose="02020603050405020304" charset="0"/>
              </a:rPr>
              <a:t>Before Preprocessing</a:t>
            </a:r>
            <a:endParaRPr lang="en-IN" altLang="en-US" b="1">
              <a:latin typeface="Times New Roman" panose="02020603050405020304" charset="0"/>
              <a:cs typeface="Times New Roman" panose="02020603050405020304" charset="0"/>
            </a:endParaRPr>
          </a:p>
        </p:txBody>
      </p:sp>
      <p:pic>
        <p:nvPicPr>
          <p:cNvPr id="8" name="Picture 7" descr="After pre"/>
          <p:cNvPicPr>
            <a:picLocks noChangeAspect="1"/>
          </p:cNvPicPr>
          <p:nvPr/>
        </p:nvPicPr>
        <p:blipFill>
          <a:blip r:embed="rId2"/>
          <a:stretch>
            <a:fillRect/>
          </a:stretch>
        </p:blipFill>
        <p:spPr>
          <a:xfrm>
            <a:off x="6931025" y="3089275"/>
            <a:ext cx="4225925" cy="2691130"/>
          </a:xfrm>
          <a:prstGeom prst="rect">
            <a:avLst/>
          </a:prstGeom>
        </p:spPr>
      </p:pic>
      <p:sp>
        <p:nvSpPr>
          <p:cNvPr id="9" name="Text Box 8"/>
          <p:cNvSpPr txBox="1"/>
          <p:nvPr/>
        </p:nvSpPr>
        <p:spPr>
          <a:xfrm>
            <a:off x="7270750" y="6043930"/>
            <a:ext cx="3828415" cy="368300"/>
          </a:xfrm>
          <a:prstGeom prst="rect">
            <a:avLst/>
          </a:prstGeom>
          <a:noFill/>
        </p:spPr>
        <p:txBody>
          <a:bodyPr wrap="square" rtlCol="0">
            <a:spAutoFit/>
          </a:bodyPr>
          <a:p>
            <a:r>
              <a:rPr lang="en-IN" altLang="en-US"/>
              <a:t>         </a:t>
            </a:r>
            <a:r>
              <a:rPr lang="en-IN" altLang="en-US" b="1">
                <a:latin typeface="Times New Roman" panose="02020603050405020304" charset="0"/>
                <a:cs typeface="Times New Roman" panose="02020603050405020304" charset="0"/>
              </a:rPr>
              <a:t>After Preprocessing</a:t>
            </a:r>
            <a:endParaRPr lang="en-IN" altLang="en-US" b="1">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18820" y="914400"/>
            <a:ext cx="3954780" cy="460375"/>
          </a:xfrm>
          <a:prstGeom prst="rect">
            <a:avLst/>
          </a:prstGeom>
          <a:noFill/>
        </p:spPr>
        <p:txBody>
          <a:bodyPr wrap="square" rtlCol="0">
            <a:spAutoFit/>
          </a:bodyPr>
          <a:p>
            <a:r>
              <a:rPr lang="en-IN" altLang="en-US" sz="2400" b="1">
                <a:latin typeface="Times New Roman" panose="02020603050405020304" charset="0"/>
                <a:cs typeface="Times New Roman" panose="02020603050405020304" charset="0"/>
              </a:rPr>
              <a:t>XSFN-NET MODEL</a:t>
            </a:r>
            <a:endParaRPr lang="en-IN" altLang="en-US" sz="2400" b="1">
              <a:latin typeface="Times New Roman" panose="02020603050405020304" charset="0"/>
              <a:cs typeface="Times New Roman" panose="02020603050405020304" charset="0"/>
            </a:endParaRPr>
          </a:p>
        </p:txBody>
      </p:sp>
      <p:sp>
        <p:nvSpPr>
          <p:cNvPr id="3" name="Text Box 2"/>
          <p:cNvSpPr txBox="1"/>
          <p:nvPr/>
        </p:nvSpPr>
        <p:spPr>
          <a:xfrm>
            <a:off x="718185" y="1457960"/>
            <a:ext cx="10690860" cy="5291455"/>
          </a:xfrm>
          <a:prstGeom prst="rect">
            <a:avLst/>
          </a:prstGeom>
          <a:noFill/>
        </p:spPr>
        <p:txBody>
          <a:bodyPr wrap="square" rtlCol="0">
            <a:noAutofit/>
          </a:bodyPr>
          <a:p>
            <a:pPr algn="just"/>
            <a:r>
              <a:rPr lang="en-US" altLang="en-US" sz="2400">
                <a:latin typeface="Times New Roman" panose="02020603050405020304" charset="0"/>
                <a:cs typeface="Times New Roman" panose="02020603050405020304" charset="0"/>
              </a:rPr>
              <a:t>XSFN-Net integrates three major computational paradigms:</a:t>
            </a:r>
            <a:endParaRPr lang="en-US" altLang="en-US" sz="2400">
              <a:latin typeface="Times New Roman" panose="02020603050405020304" charset="0"/>
              <a:cs typeface="Times New Roman" panose="02020603050405020304" charset="0"/>
            </a:endParaRPr>
          </a:p>
          <a:p>
            <a:pPr algn="just"/>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Xception Network:</a:t>
            </a:r>
            <a:r>
              <a:rPr lang="en-US" altLang="en-US" sz="2400">
                <a:latin typeface="Times New Roman" panose="02020603050405020304" charset="0"/>
                <a:cs typeface="Times New Roman" panose="02020603050405020304" charset="0"/>
              </a:rPr>
              <a:t> Extracts deep hierarchical spatial features from images.</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Fractional Calculus (FC):</a:t>
            </a:r>
            <a:r>
              <a:rPr lang="en-US" altLang="en-US" sz="2400">
                <a:latin typeface="Times New Roman" panose="02020603050405020304" charset="0"/>
                <a:cs typeface="Times New Roman" panose="02020603050405020304" charset="0"/>
              </a:rPr>
              <a:t> Fuses multiple feature types through fractional-order integration, improving feature correlation and representation.</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Deep Spiking Neural Network (DSNN):</a:t>
            </a:r>
            <a:r>
              <a:rPr lang="en-US" altLang="en-US" sz="2400">
                <a:latin typeface="Times New Roman" panose="02020603050405020304" charset="0"/>
                <a:cs typeface="Times New Roman" panose="02020603050405020304" charset="0"/>
              </a:rPr>
              <a:t> Mimics the firing behavior of biological neurons for energy-efficient, high-precision classification.</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This combination allows XSFN-Net to capture both global semantic context and fine-grained tissue texture details essential for differentiating normal and malignant oral epithelial structures.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595880">
              <a:lnSpc>
                <a:spcPct val="100000"/>
              </a:lnSpc>
              <a:spcBef>
                <a:spcPts val="130"/>
              </a:spcBef>
            </a:pPr>
            <a:r>
              <a:rPr spc="-45" dirty="0"/>
              <a:t>IMPLEMENTATION</a:t>
            </a:r>
            <a:endParaRPr spc="-45"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4" name="TextBox 13"/>
          <p:cNvSpPr txBox="1"/>
          <p:nvPr/>
        </p:nvSpPr>
        <p:spPr>
          <a:xfrm>
            <a:off x="918210" y="1582420"/>
            <a:ext cx="10186670" cy="668020"/>
          </a:xfrm>
          <a:prstGeom prst="rect">
            <a:avLst/>
          </a:prstGeom>
          <a:noFill/>
        </p:spPr>
        <p:txBody>
          <a:bodyPr wrap="square">
            <a:spAutoFit/>
          </a:bodyPr>
          <a:lstStyle/>
          <a:p>
            <a:pPr marL="0" indent="0" algn="l">
              <a:lnSpc>
                <a:spcPts val="2250"/>
              </a:lnSpc>
              <a:buNone/>
            </a:pPr>
            <a:r>
              <a:rPr lang="en-US" sz="2400" dirty="0">
                <a:solidFill>
                  <a:srgbClr val="2B3541"/>
                </a:solidFill>
                <a:latin typeface="Times New Roman" panose="02020603050405020304" charset="0"/>
                <a:ea typeface="Funnel Sans" pitchFamily="34" charset="-122"/>
                <a:cs typeface="Times New Roman" panose="02020603050405020304" charset="0"/>
                <a:sym typeface="+mn-ea"/>
              </a:rPr>
              <a:t>Models were trained using a dataset of 1,224 histopathological images at 100x and 400x</a:t>
            </a:r>
            <a:r>
              <a:rPr lang="en-IN" altLang="en-US" sz="2400" dirty="0">
                <a:solidFill>
                  <a:srgbClr val="2B3541"/>
                </a:solidFill>
                <a:latin typeface="Times New Roman" panose="02020603050405020304" charset="0"/>
                <a:ea typeface="Funnel Sans" pitchFamily="34" charset="-122"/>
                <a:cs typeface="Times New Roman" panose="02020603050405020304" charset="0"/>
                <a:sym typeface="+mn-ea"/>
              </a:rPr>
              <a:t> </a:t>
            </a:r>
            <a:r>
              <a:rPr lang="en-US" sz="2400" dirty="0">
                <a:solidFill>
                  <a:srgbClr val="2B3541"/>
                </a:solidFill>
                <a:latin typeface="Times New Roman" panose="02020603050405020304" charset="0"/>
                <a:ea typeface="Funnel Sans" pitchFamily="34" charset="-122"/>
                <a:cs typeface="Times New Roman" panose="02020603050405020304" charset="0"/>
                <a:sym typeface="+mn-ea"/>
              </a:rPr>
              <a:t>magnification levels.</a:t>
            </a:r>
            <a:endParaRPr lang="en-IN" sz="2400" dirty="0">
              <a:latin typeface="Times New Roman" panose="02020603050405020304" charset="0"/>
              <a:cs typeface="Times New Roman" panose="02020603050405020304" charset="0"/>
            </a:endParaRPr>
          </a:p>
        </p:txBody>
      </p:sp>
      <p:sp>
        <p:nvSpPr>
          <p:cNvPr id="3" name="Text Box 2"/>
          <p:cNvSpPr txBox="1"/>
          <p:nvPr/>
        </p:nvSpPr>
        <p:spPr>
          <a:xfrm>
            <a:off x="975360" y="2268855"/>
            <a:ext cx="9628505" cy="3552190"/>
          </a:xfrm>
          <a:prstGeom prst="rect">
            <a:avLst/>
          </a:prstGeom>
          <a:noFill/>
        </p:spPr>
        <p:txBody>
          <a:bodyPr wrap="square" rtlCol="0">
            <a:noAutofit/>
          </a:bodyPr>
          <a:p>
            <a:r>
              <a:rPr lang="en-US" sz="2400" b="1" dirty="0">
                <a:solidFill>
                  <a:srgbClr val="2B3541"/>
                </a:solidFill>
                <a:latin typeface="Times New Roman" panose="02020603050405020304" charset="0"/>
                <a:ea typeface="Funnel Sans" pitchFamily="34" charset="-122"/>
                <a:cs typeface="Times New Roman" panose="02020603050405020304" charset="0"/>
                <a:sym typeface="+mn-ea"/>
              </a:rPr>
              <a:t>Frameworks:</a:t>
            </a:r>
            <a:r>
              <a:rPr lang="en-US" sz="2400" dirty="0">
                <a:solidFill>
                  <a:srgbClr val="2B3541"/>
                </a:solidFill>
                <a:latin typeface="Times New Roman" panose="02020603050405020304" charset="0"/>
                <a:ea typeface="Funnel Sans" pitchFamily="34" charset="-122"/>
                <a:cs typeface="Times New Roman" panose="02020603050405020304" charset="0"/>
                <a:sym typeface="+mn-ea"/>
              </a:rPr>
              <a:t> Python with PyTorch and TensorFlow.</a:t>
            </a:r>
            <a:endParaRPr lang="en-US" sz="2400" dirty="0">
              <a:latin typeface="Times New Roman" panose="02020603050405020304" charset="0"/>
              <a:cs typeface="Times New Roman" panose="02020603050405020304" charset="0"/>
            </a:endParaRPr>
          </a:p>
          <a:p>
            <a:r>
              <a:rPr lang="en-US" sz="2400" b="1" dirty="0">
                <a:solidFill>
                  <a:srgbClr val="2B3541"/>
                </a:solidFill>
                <a:latin typeface="Times New Roman" panose="02020603050405020304" charset="0"/>
                <a:ea typeface="Funnel Sans" pitchFamily="34" charset="-122"/>
                <a:cs typeface="Times New Roman" panose="02020603050405020304" charset="0"/>
                <a:sym typeface="+mn-ea"/>
              </a:rPr>
              <a:t>Hardware:</a:t>
            </a:r>
            <a:r>
              <a:rPr lang="en-US" sz="2400" dirty="0">
                <a:solidFill>
                  <a:srgbClr val="2B3541"/>
                </a:solidFill>
                <a:latin typeface="Times New Roman" panose="02020603050405020304" charset="0"/>
                <a:ea typeface="Funnel Sans" pitchFamily="34" charset="-122"/>
                <a:cs typeface="Times New Roman" panose="02020603050405020304" charset="0"/>
                <a:sym typeface="+mn-ea"/>
              </a:rPr>
              <a:t> NVIDIA Tesla T4 GPU (Google Colab).</a:t>
            </a:r>
            <a:endParaRPr lang="en-US" sz="2400" dirty="0">
              <a:latin typeface="Times New Roman" panose="02020603050405020304" charset="0"/>
              <a:cs typeface="Times New Roman" panose="02020603050405020304" charset="0"/>
            </a:endParaRPr>
          </a:p>
          <a:p>
            <a:r>
              <a:rPr lang="en-US" sz="2400" b="1" dirty="0">
                <a:solidFill>
                  <a:srgbClr val="2B3541"/>
                </a:solidFill>
                <a:latin typeface="Times New Roman" panose="02020603050405020304" charset="0"/>
                <a:ea typeface="Funnel Sans" pitchFamily="34" charset="-122"/>
                <a:cs typeface="Times New Roman" panose="02020603050405020304" charset="0"/>
                <a:sym typeface="+mn-ea"/>
              </a:rPr>
              <a:t>Image Size:</a:t>
            </a:r>
            <a:r>
              <a:rPr lang="en-US" sz="2400" dirty="0">
                <a:solidFill>
                  <a:srgbClr val="2B3541"/>
                </a:solidFill>
                <a:latin typeface="Times New Roman" panose="02020603050405020304" charset="0"/>
                <a:ea typeface="Funnel Sans" pitchFamily="34" charset="-122"/>
                <a:cs typeface="Times New Roman" panose="02020603050405020304" charset="0"/>
                <a:sym typeface="+mn-ea"/>
              </a:rPr>
              <a:t> Resized and normalized to 224 × 224 pixels.</a:t>
            </a:r>
            <a:endParaRPr lang="en-US" sz="2400" dirty="0">
              <a:latin typeface="Times New Roman" panose="02020603050405020304" charset="0"/>
              <a:cs typeface="Times New Roman" panose="02020603050405020304" charset="0"/>
            </a:endParaRPr>
          </a:p>
          <a:p>
            <a:r>
              <a:rPr lang="en-US" sz="2400" b="1" dirty="0">
                <a:solidFill>
                  <a:srgbClr val="2B3541"/>
                </a:solidFill>
                <a:latin typeface="Times New Roman" panose="02020603050405020304" charset="0"/>
                <a:ea typeface="Funnel Sans" pitchFamily="34" charset="-122"/>
                <a:cs typeface="Times New Roman" panose="02020603050405020304" charset="0"/>
                <a:sym typeface="+mn-ea"/>
              </a:rPr>
              <a:t>Optimization: </a:t>
            </a:r>
            <a:r>
              <a:rPr lang="en-US" sz="2400" dirty="0">
                <a:solidFill>
                  <a:srgbClr val="2B3541"/>
                </a:solidFill>
                <a:latin typeface="Times New Roman" panose="02020603050405020304" charset="0"/>
                <a:ea typeface="Funnel Sans" pitchFamily="34" charset="-122"/>
                <a:cs typeface="Times New Roman" panose="02020603050405020304" charset="0"/>
                <a:sym typeface="+mn-ea"/>
              </a:rPr>
              <a:t>AdamW optimizer with Cosine Annealing scheduler</a:t>
            </a:r>
            <a:endParaRPr lang="en-US" sz="2400" dirty="0">
              <a:solidFill>
                <a:srgbClr val="2B3541"/>
              </a:solidFill>
              <a:latin typeface="Times New Roman" panose="02020603050405020304" charset="0"/>
              <a:ea typeface="Funnel Sans" pitchFamily="34" charset="-122"/>
              <a:cs typeface="Times New Roman" panose="02020603050405020304" charset="0"/>
              <a:sym typeface="+mn-ea"/>
            </a:endParaRPr>
          </a:p>
          <a:p>
            <a:r>
              <a:rPr lang="en-US" sz="2400" b="1" dirty="0">
                <a:solidFill>
                  <a:srgbClr val="2B3541"/>
                </a:solidFill>
                <a:latin typeface="Times New Roman" panose="02020603050405020304" charset="0"/>
                <a:ea typeface="Funnel Sans" pitchFamily="34" charset="-122"/>
                <a:cs typeface="Times New Roman" panose="02020603050405020304" charset="0"/>
                <a:sym typeface="+mn-ea"/>
              </a:rPr>
              <a:t>Regularization:</a:t>
            </a:r>
            <a:r>
              <a:rPr lang="en-US" sz="2400" dirty="0">
                <a:solidFill>
                  <a:srgbClr val="2B3541"/>
                </a:solidFill>
                <a:latin typeface="Times New Roman" panose="02020603050405020304" charset="0"/>
                <a:ea typeface="Funnel Sans" pitchFamily="34" charset="-122"/>
                <a:cs typeface="Times New Roman" panose="02020603050405020304" charset="0"/>
                <a:sym typeface="+mn-ea"/>
              </a:rPr>
              <a:t> Early stopping, dropout layers, and weight decay (1e-5) to prevent overfitting.</a:t>
            </a:r>
            <a:endParaRPr lang="en-US" sz="2400" dirty="0">
              <a:solidFill>
                <a:srgbClr val="2B3541"/>
              </a:solidFill>
              <a:latin typeface="Times New Roman" panose="02020603050405020304" charset="0"/>
              <a:ea typeface="Funnel Sans" pitchFamily="34" charset="-122"/>
              <a:cs typeface="Times New Roman" panose="02020603050405020304" charset="0"/>
            </a:endParaRPr>
          </a:p>
          <a:p>
            <a:endParaRPr lang="en-US" sz="2400">
              <a:latin typeface="Times New Roman" panose="02020603050405020304" charset="0"/>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endParaRPr spc="-25"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4" name="TextBox 13"/>
          <p:cNvSpPr txBox="1"/>
          <p:nvPr/>
        </p:nvSpPr>
        <p:spPr>
          <a:xfrm>
            <a:off x="1219198" y="4191001"/>
            <a:ext cx="9829802" cy="398780"/>
          </a:xfrm>
          <a:prstGeom prst="rect">
            <a:avLst/>
          </a:prstGeom>
          <a:noFill/>
        </p:spPr>
        <p:txBody>
          <a:bodyPr wrap="square">
            <a:spAutoFit/>
          </a:bodyPr>
          <a:lstStyle/>
          <a:p>
            <a:pPr marL="0" indent="0">
              <a:buFont typeface="Arial" panose="020B0604020202020204" pitchFamily="34" charset="0"/>
              <a:buNone/>
            </a:pPr>
            <a:r>
              <a:rPr lang="en-US" sz="2000" dirty="0"/>
              <a:t>.</a:t>
            </a:r>
            <a:endParaRPr lang="en-IN" sz="2000" dirty="0"/>
          </a:p>
        </p:txBody>
      </p:sp>
      <p:sp>
        <p:nvSpPr>
          <p:cNvPr id="3" name="Text Box 2"/>
          <p:cNvSpPr txBox="1"/>
          <p:nvPr/>
        </p:nvSpPr>
        <p:spPr>
          <a:xfrm>
            <a:off x="917575" y="1610995"/>
            <a:ext cx="5911215" cy="4013835"/>
          </a:xfrm>
          <a:prstGeom prst="rect">
            <a:avLst/>
          </a:prstGeom>
          <a:noFill/>
        </p:spPr>
        <p:txBody>
          <a:bodyPr wrap="square" rtlCol="0">
            <a:noAutofit/>
          </a:bodyPr>
          <a:p>
            <a:pPr algn="just"/>
            <a:r>
              <a:rPr lang="en-US" altLang="en-US" sz="2400">
                <a:latin typeface="Times New Roman" panose="02020603050405020304" charset="0"/>
                <a:cs typeface="Times New Roman" panose="02020603050405020304" charset="0"/>
              </a:rPr>
              <a:t>The provided confusion matrix has valuable insights</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regarding the performance metrics of the OSCC classification</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model. From the matrix, out of 186 true OSCC cases, 173</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forecasted as OSCC, which constitutes true positives, while</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13 were underreported as OSCC which makes them false</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negatives. Among the 58 true normal cases, 46 were accurately</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identified as normal, while the remaining 12 were misclassified</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as OSCC.</a:t>
            </a:r>
            <a:endParaRPr lang="en-US" sz="2400">
              <a:latin typeface="Times New Roman" panose="02020603050405020304" charset="0"/>
              <a:cs typeface="Times New Roman" panose="02020603050405020304" charset="0"/>
            </a:endParaRPr>
          </a:p>
        </p:txBody>
      </p:sp>
      <p:pic>
        <p:nvPicPr>
          <p:cNvPr id="13" name="Picture 12" descr="confusion matrix"/>
          <p:cNvPicPr>
            <a:picLocks noChangeAspect="1"/>
          </p:cNvPicPr>
          <p:nvPr/>
        </p:nvPicPr>
        <p:blipFill>
          <a:blip r:embed="rId1"/>
          <a:stretch>
            <a:fillRect/>
          </a:stretch>
        </p:blipFill>
        <p:spPr>
          <a:xfrm>
            <a:off x="6828790" y="1171575"/>
            <a:ext cx="4939665" cy="45148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p:nvPr>
            <p:custDataLst>
              <p:tags r:id="rId1"/>
            </p:custDataLst>
          </p:nvPr>
        </p:nvGraphicFramePr>
        <p:xfrm>
          <a:off x="603885" y="1293495"/>
          <a:ext cx="8532495" cy="2420620"/>
        </p:xfrm>
        <a:graphic>
          <a:graphicData uri="http://schemas.openxmlformats.org/drawingml/2006/table">
            <a:tbl>
              <a:tblPr firstRow="1" bandRow="1">
                <a:tableStyleId>{5C22544A-7EE6-4342-B048-85BDC9FD1C3A}</a:tableStyleId>
              </a:tblPr>
              <a:tblGrid>
                <a:gridCol w="2132965"/>
                <a:gridCol w="2133600"/>
                <a:gridCol w="2132965"/>
                <a:gridCol w="2132965"/>
              </a:tblGrid>
              <a:tr h="605155">
                <a:tc>
                  <a:txBody>
                    <a:bodyPr/>
                    <a:p>
                      <a:pPr>
                        <a:buNone/>
                      </a:pPr>
                      <a:r>
                        <a:rPr lang="en-IN" altLang="en-US"/>
                        <a:t>model</a:t>
                      </a:r>
                      <a:endParaRPr lang="en-IN" altLang="en-US"/>
                    </a:p>
                  </a:txBody>
                  <a:tcPr/>
                </a:tc>
                <a:tc>
                  <a:txBody>
                    <a:bodyPr/>
                    <a:p>
                      <a:pPr>
                        <a:buNone/>
                      </a:pPr>
                      <a:r>
                        <a:rPr lang="en-IN" altLang="en-US"/>
                        <a:t> Accuracy</a:t>
                      </a:r>
                      <a:endParaRPr lang="en-IN" altLang="en-US"/>
                    </a:p>
                  </a:txBody>
                  <a:tcPr/>
                </a:tc>
                <a:tc>
                  <a:txBody>
                    <a:bodyPr/>
                    <a:p>
                      <a:pPr>
                        <a:buNone/>
                      </a:pPr>
                      <a:r>
                        <a:rPr lang="en-IN" altLang="en-US"/>
                        <a:t> Precision</a:t>
                      </a:r>
                      <a:endParaRPr lang="en-IN" altLang="en-US"/>
                    </a:p>
                  </a:txBody>
                  <a:tcPr/>
                </a:tc>
                <a:tc>
                  <a:txBody>
                    <a:bodyPr/>
                    <a:p>
                      <a:pPr>
                        <a:buNone/>
                      </a:pPr>
                      <a:r>
                        <a:rPr lang="en-IN" altLang="en-US"/>
                        <a:t>Recall</a:t>
                      </a:r>
                      <a:endParaRPr lang="en-IN" altLang="en-US"/>
                    </a:p>
                  </a:txBody>
                  <a:tcPr/>
                </a:tc>
              </a:tr>
              <a:tr h="605155">
                <a:tc>
                  <a:txBody>
                    <a:bodyPr/>
                    <a:p>
                      <a:pPr>
                        <a:buNone/>
                      </a:pPr>
                      <a:r>
                        <a:rPr lang="en-IN" altLang="en-US"/>
                        <a:t>CNN</a:t>
                      </a:r>
                      <a:endParaRPr lang="en-IN" altLang="en-US"/>
                    </a:p>
                  </a:txBody>
                  <a:tcPr/>
                </a:tc>
                <a:tc>
                  <a:txBody>
                    <a:bodyPr/>
                    <a:p>
                      <a:pPr>
                        <a:buNone/>
                      </a:pPr>
                      <a:r>
                        <a:rPr lang="en-IN" altLang="en-US"/>
                        <a:t>76%</a:t>
                      </a:r>
                      <a:endParaRPr lang="en-IN" altLang="en-US"/>
                    </a:p>
                  </a:txBody>
                  <a:tcPr/>
                </a:tc>
                <a:tc>
                  <a:txBody>
                    <a:bodyPr/>
                    <a:p>
                      <a:pPr>
                        <a:buNone/>
                      </a:pPr>
                      <a:r>
                        <a:rPr lang="en-IN" altLang="en-US"/>
                        <a:t>74.5%</a:t>
                      </a:r>
                      <a:endParaRPr lang="en-IN" altLang="en-US"/>
                    </a:p>
                  </a:txBody>
                  <a:tcPr/>
                </a:tc>
                <a:tc>
                  <a:txBody>
                    <a:bodyPr/>
                    <a:p>
                      <a:pPr>
                        <a:buNone/>
                      </a:pPr>
                      <a:r>
                        <a:rPr lang="en-IN" altLang="en-US"/>
                        <a:t>75.2%</a:t>
                      </a:r>
                      <a:endParaRPr lang="en-IN" altLang="en-US"/>
                    </a:p>
                  </a:txBody>
                  <a:tcPr/>
                </a:tc>
              </a:tr>
              <a:tr h="605155">
                <a:tc>
                  <a:txBody>
                    <a:bodyPr/>
                    <a:p>
                      <a:pPr>
                        <a:buNone/>
                      </a:pPr>
                      <a:r>
                        <a:rPr lang="en-IN" altLang="en-US"/>
                        <a:t>ORALNET</a:t>
                      </a:r>
                      <a:endParaRPr lang="en-IN" altLang="en-US"/>
                    </a:p>
                  </a:txBody>
                  <a:tcPr/>
                </a:tc>
                <a:tc>
                  <a:txBody>
                    <a:bodyPr/>
                    <a:p>
                      <a:pPr>
                        <a:buNone/>
                      </a:pPr>
                      <a:r>
                        <a:rPr lang="en-IN" altLang="en-US"/>
                        <a:t>76.31%</a:t>
                      </a:r>
                      <a:endParaRPr lang="en-IN" altLang="en-US"/>
                    </a:p>
                  </a:txBody>
                  <a:tcPr/>
                </a:tc>
                <a:tc>
                  <a:txBody>
                    <a:bodyPr/>
                    <a:p>
                      <a:pPr>
                        <a:buNone/>
                      </a:pPr>
                      <a:r>
                        <a:rPr lang="en-IN" altLang="en-US"/>
                        <a:t>75.1%</a:t>
                      </a:r>
                      <a:endParaRPr lang="en-IN" altLang="en-US"/>
                    </a:p>
                  </a:txBody>
                  <a:tcPr/>
                </a:tc>
                <a:tc>
                  <a:txBody>
                    <a:bodyPr/>
                    <a:p>
                      <a:pPr>
                        <a:buNone/>
                      </a:pPr>
                      <a:r>
                        <a:rPr lang="en-IN" altLang="en-US"/>
                        <a:t>76.0%</a:t>
                      </a:r>
                      <a:endParaRPr lang="en-IN" altLang="en-US"/>
                    </a:p>
                  </a:txBody>
                  <a:tcPr/>
                </a:tc>
              </a:tr>
              <a:tr h="605155">
                <a:tc>
                  <a:txBody>
                    <a:bodyPr/>
                    <a:p>
                      <a:pPr>
                        <a:buNone/>
                      </a:pPr>
                      <a:r>
                        <a:rPr lang="en-IN" altLang="en-US"/>
                        <a:t>XSFN-NET</a:t>
                      </a:r>
                      <a:endParaRPr lang="en-IN" altLang="en-US"/>
                    </a:p>
                  </a:txBody>
                  <a:tcPr/>
                </a:tc>
                <a:tc>
                  <a:txBody>
                    <a:bodyPr/>
                    <a:p>
                      <a:pPr>
                        <a:buNone/>
                      </a:pPr>
                      <a:r>
                        <a:rPr lang="en-IN" altLang="en-US"/>
                        <a:t>91%</a:t>
                      </a:r>
                      <a:endParaRPr lang="en-IN" altLang="en-US"/>
                    </a:p>
                  </a:txBody>
                  <a:tcPr/>
                </a:tc>
                <a:tc>
                  <a:txBody>
                    <a:bodyPr/>
                    <a:p>
                      <a:pPr>
                        <a:buNone/>
                      </a:pPr>
                      <a:r>
                        <a:rPr lang="en-IN" altLang="en-US"/>
                        <a:t>93.51%</a:t>
                      </a:r>
                      <a:endParaRPr lang="en-IN" altLang="en-US"/>
                    </a:p>
                  </a:txBody>
                  <a:tcPr/>
                </a:tc>
                <a:tc>
                  <a:txBody>
                    <a:bodyPr/>
                    <a:p>
                      <a:pPr>
                        <a:buNone/>
                      </a:pPr>
                      <a:r>
                        <a:rPr lang="en-IN" altLang="en-US"/>
                        <a:t>93.01%</a:t>
                      </a:r>
                      <a:endParaRPr lang="en-IN" altLang="en-US"/>
                    </a:p>
                  </a:txBody>
                  <a:tcPr/>
                </a:tc>
              </a:tr>
            </a:tbl>
          </a:graphicData>
        </a:graphic>
      </p:graphicFrame>
      <p:sp>
        <p:nvSpPr>
          <p:cNvPr id="7" name="Text Box 6"/>
          <p:cNvSpPr txBox="1"/>
          <p:nvPr/>
        </p:nvSpPr>
        <p:spPr>
          <a:xfrm>
            <a:off x="603885" y="4010025"/>
            <a:ext cx="9513570" cy="2450465"/>
          </a:xfrm>
          <a:prstGeom prst="rect">
            <a:avLst/>
          </a:prstGeom>
          <a:noFill/>
        </p:spPr>
        <p:txBody>
          <a:bodyPr wrap="square" rtlCol="0">
            <a:noAutofit/>
          </a:bodyPr>
          <a:p>
            <a:pPr algn="just"/>
            <a:r>
              <a:rPr lang="en-US" altLang="en-US" sz="2400">
                <a:latin typeface="Times New Roman" panose="02020603050405020304" charset="0"/>
                <a:cs typeface="Times New Roman" panose="02020603050405020304" charset="0"/>
              </a:rPr>
              <a:t>The performance of three different models on the OSCC</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dataset was evaluated using five-fold cross-validation: the</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CNN baseline model, OralNet, and the proposed model,</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XSFN-Net.In all metrics, the proposed model, XSFN-Net, outperformed both baseline models. Primarily, it yielded a precision</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of 93.51%, recall of 93.01% and F1-score of 93.64%, while</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obtaining an accuracy rate of 91%.</a:t>
            </a:r>
            <a:endParaRPr lang="en-US" altLang="en-US" sz="2400">
              <a:latin typeface="Times New Roman" panose="02020603050405020304" charset="0"/>
              <a:cs typeface="Times New Roman" panose="02020603050405020304" charset="0"/>
            </a:endParaRPr>
          </a:p>
        </p:txBody>
      </p:sp>
      <p:sp>
        <p:nvSpPr>
          <p:cNvPr id="8" name="Text Box 7"/>
          <p:cNvSpPr txBox="1"/>
          <p:nvPr/>
        </p:nvSpPr>
        <p:spPr>
          <a:xfrm>
            <a:off x="561975" y="727710"/>
            <a:ext cx="8997315" cy="460375"/>
          </a:xfrm>
          <a:prstGeom prst="rect">
            <a:avLst/>
          </a:prstGeom>
          <a:noFill/>
        </p:spPr>
        <p:txBody>
          <a:bodyPr wrap="square" rtlCol="0">
            <a:spAutoFit/>
          </a:bodyPr>
          <a:p>
            <a:r>
              <a:rPr lang="en-IN" altLang="en-US" sz="2400" b="1">
                <a:latin typeface="Times New Roman" panose="02020603050405020304" charset="0"/>
                <a:cs typeface="Times New Roman" panose="02020603050405020304" charset="0"/>
              </a:rPr>
              <a:t>MODEL PERFORMANCE COMPARISION TABLE</a:t>
            </a:r>
            <a:endParaRPr lang="en-IN" altLang="en-US" sz="2400" b="1">
              <a:latin typeface="Times New Roman" panose="02020603050405020304" charset="0"/>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8140" y="866140"/>
            <a:ext cx="7380605" cy="460375"/>
          </a:xfrm>
          <a:prstGeom prst="rect">
            <a:avLst/>
          </a:prstGeom>
          <a:noFill/>
        </p:spPr>
        <p:txBody>
          <a:bodyPr wrap="square" rtlCol="0">
            <a:spAutoFit/>
          </a:bodyPr>
          <a:p>
            <a:r>
              <a:rPr lang="en-IN" altLang="en-US" sz="2400" b="1">
                <a:latin typeface="Times New Roman" panose="02020603050405020304" charset="0"/>
                <a:cs typeface="Times New Roman" panose="02020603050405020304" charset="0"/>
              </a:rPr>
              <a:t>AVERAGE ACCURACY OF MODELS</a:t>
            </a:r>
            <a:endParaRPr lang="en-IN" altLang="en-US" sz="2400" b="1">
              <a:latin typeface="Times New Roman" panose="02020603050405020304" charset="0"/>
              <a:cs typeface="Times New Roman" panose="02020603050405020304" charset="0"/>
            </a:endParaRPr>
          </a:p>
        </p:txBody>
      </p:sp>
      <p:pic>
        <p:nvPicPr>
          <p:cNvPr id="3" name="Picture 2" descr="Average accuracy"/>
          <p:cNvPicPr>
            <a:picLocks noChangeAspect="1"/>
          </p:cNvPicPr>
          <p:nvPr/>
        </p:nvPicPr>
        <p:blipFill>
          <a:blip r:embed="rId1"/>
          <a:stretch>
            <a:fillRect/>
          </a:stretch>
        </p:blipFill>
        <p:spPr>
          <a:xfrm>
            <a:off x="6705600" y="1292860"/>
            <a:ext cx="5140325" cy="4831715"/>
          </a:xfrm>
          <a:prstGeom prst="rect">
            <a:avLst/>
          </a:prstGeom>
        </p:spPr>
      </p:pic>
      <p:sp>
        <p:nvSpPr>
          <p:cNvPr id="4" name="Text Box 3"/>
          <p:cNvSpPr txBox="1"/>
          <p:nvPr/>
        </p:nvSpPr>
        <p:spPr>
          <a:xfrm>
            <a:off x="445770" y="1652905"/>
            <a:ext cx="5956935" cy="4384040"/>
          </a:xfrm>
          <a:prstGeom prst="rect">
            <a:avLst/>
          </a:prstGeom>
          <a:noFill/>
        </p:spPr>
        <p:txBody>
          <a:bodyPr wrap="square" rtlCol="0">
            <a:noAutofit/>
          </a:bodyPr>
          <a:p>
            <a:pPr algn="just"/>
            <a:r>
              <a:rPr lang="en-US" altLang="en-US" sz="2400">
                <a:latin typeface="Times New Roman" panose="02020603050405020304" charset="0"/>
                <a:cs typeface="Times New Roman" panose="02020603050405020304" charset="0"/>
              </a:rPr>
              <a:t>The improvement in performance comes from XSFN-Net’s</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hybrid architecture. This model combines both handcrafted</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features (LVP, DWT, GLRM) and deep features (Xception).These features are fused using Fractional Calculus and classified with a Deep Spiking Neural Network (DSNN). With</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this combination, the model can integrate low-level texture</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granularity and high-level semantic overview, which enhances</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its </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differentiating capabilities.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210" y="668020"/>
            <a:ext cx="10100945" cy="848995"/>
          </a:xfrm>
          <a:prstGeom prst="rect">
            <a:avLst/>
          </a:prstGeom>
        </p:spPr>
        <p:txBody>
          <a:bodyPr vert="horz" wrap="square" lIns="0" tIns="262889" rIns="0" bIns="0" rtlCol="0">
            <a:noAutofit/>
          </a:bodyPr>
          <a:lstStyle/>
          <a:p>
            <a:pPr marL="588010">
              <a:lnSpc>
                <a:spcPct val="100000"/>
              </a:lnSpc>
              <a:spcBef>
                <a:spcPts val="130"/>
              </a:spcBef>
            </a:pPr>
            <a:r>
              <a:rPr lang="en-IN" dirty="0"/>
              <a:t>              </a:t>
            </a:r>
            <a:r>
              <a:rPr dirty="0"/>
              <a:t>CONCLUSION</a:t>
            </a:r>
            <a:r>
              <a:rPr spc="-140" dirty="0"/>
              <a:t> </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0" name="TextBox 9"/>
          <p:cNvSpPr txBox="1"/>
          <p:nvPr/>
        </p:nvSpPr>
        <p:spPr>
          <a:xfrm>
            <a:off x="917575" y="1764665"/>
            <a:ext cx="10287000" cy="4486910"/>
          </a:xfrm>
          <a:prstGeom prst="rect">
            <a:avLst/>
          </a:prstGeom>
          <a:noFill/>
        </p:spPr>
        <p:txBody>
          <a:bodyPr wrap="square">
            <a:noAutofit/>
          </a:bodyPr>
          <a:lstStyle/>
          <a:p>
            <a:pPr marL="342900" indent="-342900" algn="just">
              <a:buFont typeface="Arial" panose="020B0604020202020204" pitchFamily="34" charset="0"/>
              <a:buChar char="•"/>
            </a:pPr>
            <a:r>
              <a:rPr lang="en-US" altLang="en-US" sz="2400" dirty="0">
                <a:latin typeface="Times New Roman" panose="02020603050405020304" charset="0"/>
                <a:cs typeface="Times New Roman" panose="02020603050405020304" charset="0"/>
              </a:rPr>
              <a:t>The proposed XSFN-Net model successfully integrates Spiking Neural Networks (SNNs) and Fractional Neural Networks (FNNs) to classify Oral Squamous Cell Carcinoma (OSCC) from histopathological images.</a:t>
            </a:r>
            <a:endParaRPr lang="en-US" alt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dirty="0">
                <a:latin typeface="Times New Roman" panose="02020603050405020304" charset="0"/>
                <a:cs typeface="Times New Roman" panose="02020603050405020304" charset="0"/>
              </a:rPr>
              <a:t>The hybrid approach effectively captures both temporal spike dynamics and fractional-order texture information, improving the model’s ability to distinguish subtle tissue variations.</a:t>
            </a:r>
            <a:endParaRPr lang="en-US" alt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dirty="0">
                <a:latin typeface="Times New Roman" panose="02020603050405020304" charset="0"/>
                <a:cs typeface="Times New Roman" panose="02020603050405020304" charset="0"/>
              </a:rPr>
              <a:t>Compared to conventional CNN-based methods, XSFN-Net achieves higher classification accuracy, faster convergence, and better computational efficiency.</a:t>
            </a:r>
            <a:endParaRPr lang="en-US" alt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dirty="0">
                <a:latin typeface="Times New Roman" panose="02020603050405020304" charset="0"/>
                <a:cs typeface="Times New Roman" panose="02020603050405020304" charset="0"/>
              </a:rPr>
              <a:t>The model’s biologically inspired design reduces energy consumption while maintaining diagnostic precision, making it suitable for real-time medical applications.</a:t>
            </a:r>
            <a:endParaRPr lang="en-US" altLang="en-US" sz="2400" dirty="0">
              <a:latin typeface="Times New Roman" panose="02020603050405020304" charset="0"/>
              <a:cs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7575" y="792480"/>
            <a:ext cx="10228580" cy="902335"/>
          </a:xfrm>
        </p:spPr>
        <p:txBody>
          <a:bodyPr>
            <a:noAutofit/>
          </a:bodyPr>
          <a:p>
            <a:r>
              <a:rPr lang="en-IN" altLang="en-US"/>
              <a:t>                     FUTURE SCOPE</a:t>
            </a:r>
            <a:endParaRPr lang="en-IN" altLang="en-US"/>
          </a:p>
        </p:txBody>
      </p:sp>
      <p:sp>
        <p:nvSpPr>
          <p:cNvPr id="3" name="Text Placeholder 2"/>
          <p:cNvSpPr>
            <a:spLocks noGrp="1"/>
          </p:cNvSpPr>
          <p:nvPr>
            <p:ph type="body" idx="1"/>
          </p:nvPr>
        </p:nvSpPr>
        <p:spPr>
          <a:xfrm>
            <a:off x="917575" y="1576705"/>
            <a:ext cx="10194290" cy="4347210"/>
          </a:xfrm>
        </p:spPr>
        <p:txBody>
          <a:bodyPr>
            <a:noAutofit/>
          </a:bodyPr>
          <a:p>
            <a:pPr marL="457200" indent="-457200">
              <a:buFont typeface="Arial" panose="020B0604020202020204" pitchFamily="34" charset="0"/>
              <a:buChar char="•"/>
            </a:pPr>
            <a:r>
              <a:rPr lang="en-US" altLang="en-US"/>
              <a:t>Incorporate Explainable AI (XAI) techniques to interpret model decisions and visualize important tissue regions.</a:t>
            </a:r>
            <a:endParaRPr lang="en-US" altLang="en-US"/>
          </a:p>
          <a:p>
            <a:pPr marL="457200" indent="-457200">
              <a:buFont typeface="Arial" panose="020B0604020202020204" pitchFamily="34" charset="0"/>
              <a:buChar char="•"/>
            </a:pPr>
            <a:r>
              <a:rPr lang="en-US" altLang="en-US"/>
              <a:t>Optimize the architecture for real-time clinical deployment on low-power medical imaging devices.</a:t>
            </a:r>
            <a:endParaRPr lang="en-US" altLang="en-US"/>
          </a:p>
          <a:p>
            <a:pPr marL="457200" indent="-457200">
              <a:buFont typeface="Arial" panose="020B0604020202020204" pitchFamily="34" charset="0"/>
              <a:buChar char="•"/>
            </a:pPr>
            <a:r>
              <a:rPr lang="en-US" altLang="en-US"/>
              <a:t>Integrate transfer learning and domain adaptation to enhance generalization across diverse histopathological datasets.</a:t>
            </a:r>
            <a:endParaRPr lang="en-US" altLang="en-US"/>
          </a:p>
          <a:p>
            <a:pPr marL="457200" indent="-457200">
              <a:buFont typeface="Arial" panose="020B0604020202020204" pitchFamily="34" charset="0"/>
              <a:buChar char="•"/>
            </a:pPr>
            <a:r>
              <a:rPr lang="en-US" altLang="en-US"/>
              <a:t>Develop a web-based or mobile diagnostic application to assist pathologists in remote cancer screening.</a:t>
            </a:r>
            <a:endParaRPr lang="en-US" altLang="en-US"/>
          </a:p>
          <a:p>
            <a:pPr marL="457200" indent="-457200">
              <a:buFont typeface="Arial" panose="020B0604020202020204" pitchFamily="34" charset="0"/>
              <a:buChar char="•"/>
            </a:pPr>
            <a:r>
              <a:rPr lang="en-US" altLang="en-US"/>
              <a:t>Explore neuromorphic hardware implementation of XSFN-Net for energy-efficient medical AI systems.</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0" name="TextBox 9"/>
          <p:cNvSpPr txBox="1"/>
          <p:nvPr/>
        </p:nvSpPr>
        <p:spPr>
          <a:xfrm>
            <a:off x="1045210" y="1443990"/>
            <a:ext cx="10688955" cy="4787265"/>
          </a:xfrm>
          <a:prstGeom prst="rect">
            <a:avLst/>
          </a:prstGeom>
          <a:noFill/>
        </p:spPr>
        <p:txBody>
          <a:bodyPr wrap="square">
            <a:noAutofit/>
          </a:bodyPr>
          <a:lstStyle/>
          <a:p>
            <a:pPr marL="0" indent="0" algn="just">
              <a:buFont typeface="+mj-lt"/>
              <a:buNone/>
            </a:pPr>
            <a:r>
              <a:rPr lang="en-IN" altLang="en-US" sz="2000" dirty="0">
                <a:latin typeface="Times New Roman" panose="02020603050405020304" charset="0"/>
                <a:cs typeface="Times New Roman" panose="02020603050405020304" charset="0"/>
              </a:rPr>
              <a:t>[1</a:t>
            </a:r>
            <a:r>
              <a:rPr lang="en-US" altLang="en-US" sz="2000" dirty="0">
                <a:latin typeface="Times New Roman" panose="02020603050405020304" charset="0"/>
                <a:cs typeface="Times New Roman" panose="02020603050405020304" charset="0"/>
              </a:rPr>
              <a:t>] S. Ramya et al., “Xception Spiking Fractional Neural Net_x0002_work for OSCC Classification Based on Histopathological Images,”</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DOI:10.1109/ACCESS.2025.XXXX</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[2] G. A. I. Devindi et al., “Multimodal Deep Convolutional Neural Network</a:t>
            </a:r>
            <a:r>
              <a:rPr lang="en-IN" altLang="en-US" sz="2000" dirty="0">
                <a:latin typeface="Times New Roman" panose="02020603050405020304" charset="0"/>
                <a:cs typeface="Times New Roman" panose="02020603050405020304" charset="0"/>
              </a:rPr>
              <a:t> </a:t>
            </a:r>
            <a:r>
              <a:rPr lang="en-US" altLang="en-US" sz="2000" dirty="0">
                <a:latin typeface="Times New Roman" panose="02020603050405020304" charset="0"/>
                <a:cs typeface="Times New Roman" panose="02020603050405020304" charset="0"/>
              </a:rPr>
              <a:t>Pipeline for AI-Assisted Early Detection of Oral Cancer,” IEEE Access,</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DOI: 10.1109/ACCESS.2024.3454338</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[3] Madhusmita Das et al., “An Ensemble Deep Learning Model for Oral</a:t>
            </a:r>
            <a:r>
              <a:rPr lang="en-IN" altLang="en-US" sz="2000" dirty="0">
                <a:latin typeface="Times New Roman" panose="02020603050405020304" charset="0"/>
                <a:cs typeface="Times New Roman" panose="02020603050405020304" charset="0"/>
              </a:rPr>
              <a:t> </a:t>
            </a:r>
            <a:r>
              <a:rPr lang="en-US" altLang="en-US" sz="2000" dirty="0">
                <a:latin typeface="Times New Roman" panose="02020603050405020304" charset="0"/>
                <a:cs typeface="Times New Roman" panose="02020603050405020304" charset="0"/>
              </a:rPr>
              <a:t>Squamous Cell Carcinoma Detection Using Histopathological Image</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Analysis,” DOI: 10.1109/ACCESS.2024.3450444</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[4] Amity University Researchers, “Development of Oral Cancer Detection</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Technique: A Comprehensive Approach Using CNNs and TensorFlow</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Lite,” DOI: 10.1109/CICTN64563.2025.10932593</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[5] S. Vasuki et al., “Ensemble Deep Learning Framework for OSCC</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Classification Using Modified VGG and CNN Features with XGBoost,”</a:t>
            </a:r>
            <a:endParaRPr lang="en-US" altLang="en-US" sz="2000" dirty="0">
              <a:latin typeface="Times New Roman" panose="02020603050405020304" charset="0"/>
              <a:cs typeface="Times New Roman" panose="02020603050405020304" charset="0"/>
            </a:endParaRPr>
          </a:p>
          <a:p>
            <a:pPr marL="0" indent="0" algn="just">
              <a:buFont typeface="+mj-lt"/>
              <a:buNone/>
            </a:pPr>
            <a:r>
              <a:rPr lang="en-US" altLang="en-US" sz="2000" dirty="0">
                <a:latin typeface="Times New Roman" panose="02020603050405020304" charset="0"/>
                <a:cs typeface="Times New Roman" panose="02020603050405020304" charset="0"/>
              </a:rPr>
              <a:t>DOI: 10.1109/ICTEST64710.2025.11042441</a:t>
            </a:r>
            <a:endParaRPr lang="en-US" altLang="en-US" sz="2000" dirty="0">
              <a:latin typeface="Times New Roman" panose="02020603050405020304" charset="0"/>
              <a:cs typeface="Times New Roman" panose="02020603050405020304" charset="0"/>
            </a:endParaRPr>
          </a:p>
          <a:p>
            <a:pPr marL="0" indent="0" algn="just">
              <a:buFont typeface="+mj-lt"/>
              <a:buNone/>
            </a:pPr>
            <a:endParaRPr lang="en-US" altLang="en-US" sz="2000" dirty="0">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19200" y="798195"/>
            <a:ext cx="10138410" cy="5613400"/>
          </a:xfrm>
          <a:prstGeom prst="rect">
            <a:avLst/>
          </a:prstGeom>
          <a:noFill/>
        </p:spPr>
        <p:txBody>
          <a:bodyPr wrap="square" rtlCol="0">
            <a:noAutofit/>
          </a:bodyPr>
          <a:p>
            <a:pPr algn="just"/>
            <a:r>
              <a:rPr lang="en-US" altLang="en-US" sz="2000">
                <a:latin typeface="Times New Roman" panose="02020603050405020304" charset="0"/>
                <a:cs typeface="Times New Roman" panose="02020603050405020304" charset="0"/>
              </a:rPr>
              <a:t>[7] Rachasak Somyanonthanakul et al., “Survival Estimation of Oral Cancer</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Using Fuzzy Deep </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Learning,” DOI: 10.1186/s12903-024-04279-6</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[8] Samiha Islam et al., “Deep Learning Approach for Enhancing Oral</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Squamous Cell Carcinoma with LIME Explainable AI Technique,”</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 Available: https://arxiv.org/abs/2411.14184</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[9] B. Ananthakrishnan et al., “Automated Detection and Classification ofOral Squamous Cell Carcinoma Using Deep Neural Networks,” https://doi.org/10.3390/diagnostics13050918</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[10] E. Albalawi et al., “Oral Squamous Cell Carcinoma Detection Using</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EfficientNet on Histopathological Images,” https://doi.org/10.3389/fmed.2023.1349336</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[11] S. L. Jagannadham, K. L. Nadh and M. Sireesha, “Brain Tumour</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Detection Using CNN,” in Proc. 5th Int. Conf. I-SMAC (IoT in Social,</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Mobile, Analytics and Cloud) (I-SMAC), Palladam, India, 2021, pp. 734–739, doi: 10.1109/I-SMAC52330.2021.9640875.</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[12] K. V. N. Reddy, Y. Narendra, M. A. N. Reddy, A. Ramu, D. V. Reddy</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and S. Moturi, “Traffic Sign Recognition Using CNN Deep Learning,”</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in Proc. IEEE Int. Conf. Interdisciplinary Approaches in Technology and</a:t>
            </a:r>
            <a:r>
              <a:rPr lang="en-IN"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Management for Social Innovation (IATMSI), Gwalior, India, 2025, pp.1–6, doi: 10.1109/IATMSI64286.2025.10985223.</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463" y="283463"/>
            <a:ext cx="10101072" cy="939165"/>
          </a:xfrm>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lang="en-IN" spc="-150" dirty="0"/>
              <a:t>AND</a:t>
            </a:r>
            <a:r>
              <a:rPr spc="-265" dirty="0"/>
              <a:t> </a:t>
            </a:r>
            <a:r>
              <a:rPr spc="-10" dirty="0"/>
              <a:t>ANSWERS</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0" name="TextBox 9"/>
          <p:cNvSpPr txBox="1"/>
          <p:nvPr/>
        </p:nvSpPr>
        <p:spPr>
          <a:xfrm>
            <a:off x="979170" y="1410335"/>
            <a:ext cx="10491470" cy="4714875"/>
          </a:xfrm>
          <a:prstGeom prst="rect">
            <a:avLst/>
          </a:prstGeom>
          <a:noFill/>
        </p:spPr>
        <p:txBody>
          <a:bodyPr wrap="square">
            <a:noAutofit/>
          </a:bodyPr>
          <a:lstStyle/>
          <a:p>
            <a:pPr algn="just"/>
            <a:r>
              <a:rPr lang="en-US" altLang="en-US" sz="2000" dirty="0"/>
              <a:t>1. What is the main goal of your project?</a:t>
            </a:r>
            <a:endParaRPr lang="en-US" altLang="en-US" sz="2000" dirty="0"/>
          </a:p>
          <a:p>
            <a:pPr algn="just"/>
            <a:r>
              <a:rPr lang="en-US" altLang="en-US" sz="2000" dirty="0"/>
              <a:t>Answer:The main goal of my project is to develop a hybrid deep learning model (XSFN-Net) that combines Spiking Neural Networks (SNNs) and Fractional Neural Networks (FNNs) to accurately and efficiently classify Oral Squamous Cell Carcinoma (OSCC) from histopathological images.</a:t>
            </a:r>
            <a:endParaRPr lang="en-US" altLang="en-US" sz="2000" dirty="0"/>
          </a:p>
          <a:p>
            <a:pPr algn="just"/>
            <a:endParaRPr lang="en-US" altLang="en-US" sz="2000" dirty="0"/>
          </a:p>
          <a:p>
            <a:pPr algn="just"/>
            <a:r>
              <a:rPr lang="en-US" altLang="en-US" sz="2000" dirty="0"/>
              <a:t>2. Why is OSCC classification important?</a:t>
            </a:r>
            <a:endParaRPr lang="en-US" altLang="en-US" sz="2000" dirty="0"/>
          </a:p>
          <a:p>
            <a:pPr algn="just"/>
            <a:r>
              <a:rPr lang="en-US" altLang="en-US" sz="2000" dirty="0"/>
              <a:t>Answer:OSCC is one of the most common and deadly oral cancers. Early detection through accurate image classification helps in timely treatment and improves patient survival rates. Manual diagnosis is time-consuming and prone to human error, so automation is crucial.</a:t>
            </a:r>
            <a:endParaRPr lang="en-US" altLang="en-US" sz="2000" dirty="0"/>
          </a:p>
          <a:p>
            <a:pPr algn="just"/>
            <a:endParaRPr lang="en-US" altLang="en-US" sz="2000" dirty="0"/>
          </a:p>
          <a:p>
            <a:pPr algn="just"/>
            <a:r>
              <a:rPr lang="en-US" altLang="en-US" sz="2000" dirty="0"/>
              <a:t>3. What is unique about XSFN-Net compared to existing models?</a:t>
            </a:r>
            <a:endParaRPr lang="en-US" altLang="en-US" sz="2000" dirty="0"/>
          </a:p>
          <a:p>
            <a:pPr algn="just"/>
            <a:r>
              <a:rPr lang="en-US" altLang="en-US" sz="2000" dirty="0"/>
              <a:t>Answer:XSFN-Net uniquely combines the biological efficiency of Spiking Neural Networks and the enhanced feature learning of Fractional Neural Networks. This hybrid design improves accuracy, texture learning, and energy efficiency compared to conventional CNNs.</a:t>
            </a:r>
            <a:endParaRPr lang="en-US"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210" y="682625"/>
            <a:ext cx="10100945" cy="1210945"/>
          </a:xfrm>
          <a:prstGeom prst="rect">
            <a:avLst/>
          </a:prstGeom>
        </p:spPr>
        <p:txBody>
          <a:bodyPr vert="horz" wrap="square" lIns="0" tIns="262889" rIns="0" bIns="0" rtlCol="0">
            <a:noAutofit/>
          </a:bodyPr>
          <a:lstStyle/>
          <a:p>
            <a:pPr marL="2133600">
              <a:lnSpc>
                <a:spcPct val="100000"/>
              </a:lnSpc>
              <a:spcBef>
                <a:spcPts val="130"/>
              </a:spcBef>
            </a:pPr>
            <a:r>
              <a:rPr spc="-10" dirty="0"/>
              <a:t>ACKNOWLEGEMENTS</a:t>
            </a:r>
            <a:endParaRPr spc="-1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0" name="TextBox 9"/>
          <p:cNvSpPr txBox="1"/>
          <p:nvPr/>
        </p:nvSpPr>
        <p:spPr>
          <a:xfrm>
            <a:off x="1295400" y="2967335"/>
            <a:ext cx="10515600" cy="1754326"/>
          </a:xfrm>
          <a:prstGeom prst="rect">
            <a:avLst/>
          </a:prstGeom>
          <a:noFill/>
        </p:spPr>
        <p:txBody>
          <a:bodyPr wrap="square">
            <a:spAutoFit/>
          </a:bodyPr>
          <a:lstStyle/>
          <a:p>
            <a:pPr algn="just"/>
            <a:r>
              <a:rPr lang="en-US" sz="3600" dirty="0">
                <a:highlight>
                  <a:srgbClr val="C0C0C0"/>
                </a:highlight>
              </a:rPr>
              <a:t>I sincerely thank our Head of Department, Project Guide, and Faculty Members for their continuous support and guidance throughout this project</a:t>
            </a:r>
            <a:r>
              <a:rPr lang="en-US" sz="2400" dirty="0">
                <a:highlight>
                  <a:srgbClr val="C0C0C0"/>
                </a:highlight>
              </a:rPr>
              <a:t>.</a:t>
            </a:r>
            <a:endParaRPr lang="en-IN" sz="2400" dirty="0">
              <a:highlight>
                <a:srgbClr val="C0C0C0"/>
              </a:highlight>
            </a:endParaRPr>
          </a:p>
        </p:txBody>
      </p:sp>
    </p:spTree>
  </p:cSld>
  <p:clrMapOvr>
    <a:masterClrMapping/>
  </p:clrMapOvr>
</p:sld>
</file>

<file path=ppt/tags/tag1.xml><?xml version="1.0" encoding="utf-8"?>
<p:tagLst xmlns:p="http://schemas.openxmlformats.org/presentationml/2006/main">
  <p:tag name="TABLE_ENDDRAG_ORIGIN_RECT" val="852*378"/>
  <p:tag name="TABLE_ENDDRAG_RECT" val="53*92*852*378"/>
</p:tagLst>
</file>

<file path=ppt/tags/tag2.xml><?xml version="1.0" encoding="utf-8"?>
<p:tagLst xmlns:p="http://schemas.openxmlformats.org/presentationml/2006/main">
  <p:tag name="TABLE_ENDDRAG_ORIGIN_RECT" val="671*343"/>
  <p:tag name="TABLE_ENDDRAG_RECT" val="144*135*671*343"/>
</p:tagLst>
</file>

<file path=ppt/tags/tag3.xml><?xml version="1.0" encoding="utf-8"?>
<p:tagLst xmlns:p="http://schemas.openxmlformats.org/presentationml/2006/main">
  <p:tag name="TABLE_ENDDRAG_ORIGIN_RECT" val="671*190"/>
  <p:tag name="TABLE_ENDDRAG_RECT" val="47*101*671*19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17347</Words>
  <Application>WPS Presentation</Application>
  <PresentationFormat>Widescreen</PresentationFormat>
  <Paragraphs>556</Paragraphs>
  <Slides>30</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Arial</vt:lpstr>
      <vt:lpstr>SimSun</vt:lpstr>
      <vt:lpstr>Wingdings</vt:lpstr>
      <vt:lpstr>Times New Roman</vt:lpstr>
      <vt:lpstr>Times New Roman</vt:lpstr>
      <vt:lpstr>Calibri</vt:lpstr>
      <vt:lpstr>Microsoft YaHei</vt:lpstr>
      <vt:lpstr>Arial Unicode MS</vt:lpstr>
      <vt:lpstr>Funnel Sans</vt:lpstr>
      <vt:lpstr>Office Theme</vt:lpstr>
      <vt:lpstr>Department of Computer Science and Engineering</vt:lpstr>
      <vt:lpstr>OUTLINE</vt:lpstr>
      <vt:lpstr>ABSTRACT</vt:lpstr>
      <vt:lpstr>INTRODUCTION</vt:lpstr>
      <vt:lpstr>                      MOTIVATION</vt:lpstr>
      <vt:lpstr>LITERATURE SURVEY</vt:lpstr>
      <vt:lpstr>PowerPoint 演示文稿</vt:lpstr>
      <vt:lpstr>LITERATURE SURVEY</vt:lpstr>
      <vt:lpstr>PowerPoint 演示文稿</vt:lpstr>
      <vt:lpstr>RESEARCH GAPS</vt:lpstr>
      <vt:lpstr>PROBLEM STATEMENT</vt:lpstr>
      <vt:lpstr>OBJECTIVES</vt:lpstr>
      <vt:lpstr>BLOCK DIAGRAM OR FLOW DIAGRAM</vt:lpstr>
      <vt:lpstr>METHODOLOGY</vt:lpstr>
      <vt:lpstr>PowerPoint 演示文稿</vt:lpstr>
      <vt:lpstr>PowerPoint 演示文稿</vt:lpstr>
      <vt:lpstr>PowerPoint 演示文稿</vt:lpstr>
      <vt:lpstr>PowerPoint 演示文稿</vt:lpstr>
      <vt:lpstr>PowerPoint 演示文稿</vt:lpstr>
      <vt:lpstr>PowerPoint 演示文稿</vt:lpstr>
      <vt:lpstr>IMPLEMENTATION</vt:lpstr>
      <vt:lpstr>RESULTS &amp; ANALYSIS</vt:lpstr>
      <vt:lpstr>PowerPoint 演示文稿</vt:lpstr>
      <vt:lpstr>PowerPoint 演示文稿</vt:lpstr>
      <vt:lpstr>              CONCLUSION </vt:lpstr>
      <vt:lpstr>                     FUTURE SCOPE</vt:lpstr>
      <vt:lpstr>REFERENCES</vt:lpstr>
      <vt:lpstr>PowerPoint 演示文稿</vt:lpstr>
      <vt:lpstr>QUESTIONS AND ANSWERS</vt:lpstr>
      <vt:lpstr>ACKNOWLEGEMENTS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asritha khajjayam</dc:creator>
  <cp:lastModifiedBy>pavitra U</cp:lastModifiedBy>
  <cp:revision>28</cp:revision>
  <dcterms:created xsi:type="dcterms:W3CDTF">2025-11-08T13:05:00Z</dcterms:created>
  <dcterms:modified xsi:type="dcterms:W3CDTF">2025-12-07T05:23:07Z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2024-12-20T09:00:00Z</vt:filetime>
  </property>
  <property fmtid="{D5CDD505-2E9C-101B-9397-08002B2CF9AE}" pid="3" name="LastSaved">
    <vt:filetime>2025-11-09T09:00:00Z</vt:filetime>
  </property>
  <property fmtid="{D5CDD505-2E9C-101B-9397-08002B2CF9AE}" pid="4" name="ICV">
    <vt:lpwstr>911EFB5D54B04B2EAE4069B1DA940B0B_13</vt:lpwstr>
  </property>
  <property fmtid="{D5CDD505-2E9C-101B-9397-08002B2CF9AE}" pid="5" name="KSOProductBuildVer">
    <vt:lpwstr>1033-12.2.0.23155</vt:lpwstr>
  </property>
</Properties>
</file>